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computer-vision project: a multi-stage pipeline that turns raw dashcam video into structured, narrated, and queryable street understanding.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Attention: Self-driving cars detect every obstacle — but passengers still don't know why the car braked.</a:t>
            </a:r>
          </a:p>
          <a:p>
            <a:r>
              <a:t>Benefit: One pipeline turns raw dashcam video into a marketing-ready story — boxed objects, named brands, plain-language captions — so any viewer can follow what the car sees.</a:t>
            </a:r>
          </a:p>
          <a:p>
            <a:r>
              <a:t>Credibility: 4 stages across 3 sections · YOLO26s · CLIP · VLM · SegFormer — all running locally.</a:t>
            </a:r>
          </a:p>
          <a:p>
            <a:r>
              <a:t>Destination: In the next 15 minutes: Detect → Enrich → Explain.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talk follows the actual data flow of the pipeline: first we find and segment objects, then we add fine-grained identity, then we turn everything into a story any viewer can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YOLO gives us boxes, but a car has a brand. The scene is not just objects — it is road, sidewalk, sky. We need two detection layers.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YOLOv10n baseline: P=0.801, R=0.598, mAP@0.5=0.675, mAP@0.5:0.95=0.388.  YOLO26s: P=0.874, R=0.754, mAP@0.5=0.842, mAP@0.5:0.95=0.515.  The 9.4 M parameter backbone with C2PSA blocks delivers a significant accuracy lift — especially on recall and strict mAP. Pedestrian remains the hardest class (mAP 0.692) due to scale and occlusion. The dataset covers 11 street classes including nuanced traffic-light states.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newest stage answers the same question as YOLO, but at the pixel level: what is in this scene? Road (purple), vegetation (green), vehicles (red), sky (blue) — scene geometry, not just boxes. SegFormer-B5 is pretrained on Cityscapes (84% mIoU) and generalises directly to our dashcam domain without any fine-tuning.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we can detect cars and map the scene. But knowing that it's a car isn't enough — what kind of car is 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Detection gives us generic classes. Enrichment gives us identity — turning 'car' into 'Toyota' so the viewer knows the system truly understands, not just locates.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freeze CLIP's general car knowledge and learn a lightweight 512→20 probe on top. Strong brand discrimination, no overfitting.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real frame from the Stage 2b pipeline. YOLO26s detects the cars (YOLO conf=0.2); CLIP crops each car, runs it through the frozen ViT-B-32 backbone and the learned 512→20 linear probe, and overlays the top-1 brand with confidence. We only run CLIP on car crops above 80×80 px. Trucks are intentionally skipped — the probe was trained on car-only images and would miscalibrate on truck crops. Brand confidence is currently not thresholded (a known limit).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can locate and name every car. Now: how do we tell the story to a human who doesn't read bounding boxes?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real output from Stage 3. YOLO sees 'car, trafficLight' — the VLM narrates 'A red car is driving down a wet road in the rain, approaching a traffic light.' Boxes and brands are intermediate outputs. The real product is a sentence any human can read. That's what a customer demo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real frames from Stage 3, showing adaptive captioning in action. The left frame triggers a 'rainy driving' caption; the right frame triggers a 'pedestrian crossing' caption — because the scene changed enough (diff ≥ 12) and the minimum 5-second interval elapsed. The VLM produces fluent sentences with colour, weather, action, and spatial relationships — not just keyword lists. This is the difference between a detector output and a human-readable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any frame and ask: 'Why did the model flag this?' Turns a black-box detector into an explainable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full stack. Detect gives us structure. Enrich adds identity. Explain produces the narrative. SegFormer shares the same input video but runs on its own — it's a quality demo, not part of the live pipeline. Three sections, four stages, one demo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Detection: YOLOv10n (P=0.801, R=0.598, mAP@0.5=0.675, mAP@0.5:0.95=0.388) upgraded to YOLO26s (P=0.874, R=0.754, mAP@0.5=0.842, mAP@0.5:0.95=0.515) — a substantial accuracy lift across all metrics. The C2PSA backbone (9.4 M params) generalises well on 11 dashcam classes; pedestrian remains hardest due to scale and occlusion.  Enrichment: Brand recognition jumps from 55% zero-shot to 80% with the probe — a 25-point gain from a single linear layer on frozen embeddings. Segmentation leverages a pretrained SOTA model for immediate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works end-to-end on a local GPU. The next step is shrinking it: TensorRT, ONNX, and temporal smoothing so it runs on an embedded dashcam unit. Thank you — we're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48840"/>
            <a:ext cx="1054577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1E293B"/>
                </a:solidFill>
                <a:latin typeface="Calibri"/>
              </a:rPr>
              <a:t>Street-Scene Intelligence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4648" y="3246120"/>
            <a:ext cx="182880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75569"/>
                </a:solidFill>
                <a:latin typeface="Calibri"/>
              </a:rPr>
              <a:t>A Multi-Stage Pipeline for Traffic-Scene Detection, Brand Recognition, and Natural-Language Explanation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6177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4A3B8"/>
                </a:solidFill>
                <a:latin typeface="Calibri"/>
              </a:rPr>
              <a:t>Dongyuan Gao   ·   Solène Cosandey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75569"/>
                </a:solidFill>
                <a:latin typeface="Calibri"/>
              </a:rPr>
              <a:t>Our demo pipeline bridges the gap between raw detection and human trust.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4577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1E293B"/>
                </a:solidFill>
                <a:latin typeface="Calibri"/>
              </a:rPr>
              <a:t>How do we improve trust</a:t>
            </a:r>
          </a:p>
          <a:p>
            <a:pPr algn="ctr"/>
            <a:r>
              <a:rPr sz="4600" b="1">
                <a:solidFill>
                  <a:srgbClr val="1E293B"/>
                </a:solidFill>
                <a:latin typeface="Calibri"/>
              </a:rPr>
              <a:t>in self-driving cars?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58968" y="3977639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5196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D9488"/>
                </a:solidFill>
                <a:latin typeface="Calibri"/>
              </a:rPr>
              <a:t>In the next 15 minutes:  Detect  →  Enrich  → 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Three Sections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19759" y="2194560"/>
            <a:ext cx="320040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9759" y="2194560"/>
            <a:ext cx="3200400" cy="635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9759" y="2468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0D948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759" y="3337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E293B"/>
                </a:solidFill>
                <a:latin typeface="Calibri"/>
              </a:rPr>
              <a:t>Detect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8359" y="3977639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Calibri"/>
              </a:rPr>
              <a:t>Find and segment objects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95647" y="2194560"/>
            <a:ext cx="320040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95647" y="2194560"/>
            <a:ext cx="3200400" cy="63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5647" y="2468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D97706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5647" y="3337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E293B"/>
                </a:solidFill>
                <a:latin typeface="Calibri"/>
              </a:rPr>
              <a:t>Enrich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4247" y="3977639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Calibri"/>
              </a:rPr>
              <a:t>Add fine-grained identity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71535" y="2194560"/>
            <a:ext cx="320040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71535" y="2194560"/>
            <a:ext cx="3200400" cy="635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1535" y="2468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6366F1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1535" y="3337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E293B"/>
                </a:solidFill>
                <a:latin typeface="Calibri"/>
              </a:rPr>
              <a:t>Explain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0135" y="3977639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Calibri"/>
              </a:rPr>
              <a:t>Turn everything into a story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Finding objects is step one — we also need to see the whole scene.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691640"/>
            <a:ext cx="4663440" cy="393192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3200" y="301752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035808" y="3264408"/>
            <a:ext cx="292608" cy="329184"/>
          </a:xfrm>
          <a:prstGeom prst="triangl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93192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Raw dashcam frame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56832" y="1691640"/>
            <a:ext cx="4663440" cy="393192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7072" y="301752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869680" y="3264408"/>
            <a:ext cx="292608" cy="329184"/>
          </a:xfrm>
          <a:prstGeom prst="triangl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393192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YOLO bounding boxes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650992" y="3520440"/>
            <a:ext cx="868680" cy="41148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YOLO26s — fast object detection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Calibri"/>
              </a:rPr>
              <a:t>11 classes · 512 px · 30 epochs · mAP@0.5 = 0.842  ·  mAP@0.5:0.95 = 0.515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7132320" cy="365760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977640" y="320040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4270248" y="3447288"/>
            <a:ext cx="292608" cy="329184"/>
          </a:xfrm>
          <a:prstGeom prst="triangl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11480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Stage 1 — YOLO-only output (5-sec clip, no brand chips yet)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2011680"/>
            <a:ext cx="30632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75320" y="2011680"/>
            <a:ext cx="3063240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176272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9488"/>
                </a:solidFill>
                <a:latin typeface="Calibri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670048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Classes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3246120"/>
            <a:ext cx="30632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20" y="3246120"/>
            <a:ext cx="3063240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3410712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9488"/>
                </a:solidFill>
                <a:latin typeface="Calibri"/>
              </a:rPr>
              <a:t>512 px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904488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Image Size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4480560"/>
            <a:ext cx="30632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20" y="4480560"/>
            <a:ext cx="3063240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4645152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9488"/>
                </a:solidFill>
                <a:latin typeface="Calibri"/>
              </a:rPr>
              <a:t>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5138928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Epochs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989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Upgraded from YOLOv10n → YOLO26s:  +24.7% mAP@0.5,  +32.7% mAP@0.5:0.95,  +26.1% recall  (11-class Self-Driving-Car-3, 30 epochs).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SegFormer-B5 — pixel-level scene understanding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Calibri"/>
              </a:rPr>
              <a:t>Cityscapes · 19 classes · 84 % mIoU</a:t>
            </a:r>
          </a:p>
        </p:txBody>
      </p:sp>
      <p:pic>
        <p:nvPicPr>
          <p:cNvPr id="6" name="Picture 5" descr="segformer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3383280" cy="2413164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2960" y="56235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Calibri"/>
              </a:rPr>
              <a:t>Original</a:t>
            </a:r>
          </a:p>
        </p:txBody>
      </p:sp>
      <p:pic>
        <p:nvPicPr>
          <p:cNvPr id="8" name="Picture 7" descr="segformer_ma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2011680"/>
            <a:ext cx="3383280" cy="2158508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407408" y="56235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Calibri"/>
              </a:rPr>
              <a:t>Mask</a:t>
            </a:r>
          </a:p>
        </p:txBody>
      </p:sp>
      <p:pic>
        <p:nvPicPr>
          <p:cNvPr id="10" name="Picture 9" descr="segformer_blen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1856" y="2011680"/>
            <a:ext cx="3383280" cy="2263298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7991856" y="56235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Calibri"/>
              </a:rPr>
              <a:t>Overlay (α=0.5)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Nearest-neighbor upsampling preserves boundaries; 2,516 frames at ~5 it/s (~8 min) — quality demo, not real-time.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0" b="1">
                <a:solidFill>
                  <a:srgbClr val="1E293B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D97706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600" b="1">
                <a:solidFill>
                  <a:srgbClr val="FFFFFF"/>
                </a:solidFill>
                <a:latin typeface="Calibri"/>
              </a:rPr>
              <a:t>Enrich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58968" y="3931920"/>
            <a:ext cx="1280160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4A3B8"/>
                </a:solidFill>
                <a:latin typeface="Calibri"/>
              </a:rPr>
              <a:t>2 of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YOLO says 'car.'  We want to say 'Volkswagen.'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63040" y="2377440"/>
            <a:ext cx="2194560" cy="1645920"/>
          </a:xfrm>
          <a:prstGeom prst="roundRect">
            <a:avLst/>
          </a:prstGeom>
          <a:solidFill>
            <a:srgbClr val="EEF2F6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377440"/>
            <a:ext cx="219456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Calibri"/>
              </a:rPr>
              <a:t>YOLO box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77639" y="2971800"/>
            <a:ext cx="1371600" cy="502920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760720" y="1920240"/>
            <a:ext cx="4023360" cy="2560320"/>
          </a:xfrm>
          <a:prstGeom prst="roundRect">
            <a:avLst/>
          </a:prstGeom>
          <a:solidFill>
            <a:srgbClr val="EEF2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920240"/>
            <a:ext cx="4023360" cy="2560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Calibri"/>
              </a:rPr>
              <a:t>High-res car crop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Use case: fleet analytics, insurance claims, recall targeting, customer trust.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Frozen backbone + a learned linear probe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Calibri"/>
              </a:rPr>
              <a:t>OpenCLIP ViT-B-32 (frozen) + nn.Linear(512 → 20) = 20-brand classifier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286000"/>
            <a:ext cx="27432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2743200" cy="508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27432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OpenCLIP</a:t>
            </a:r>
          </a:p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ViT-B-32</a:t>
            </a:r>
          </a:p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(frozen)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886200" y="3200400"/>
            <a:ext cx="1280160" cy="365760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394960" y="2606040"/>
            <a:ext cx="27432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94960" y="2606040"/>
            <a:ext cx="2743200" cy="50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0" y="2606040"/>
            <a:ext cx="27432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nn.Linear</a:t>
            </a:r>
          </a:p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(512 → 20)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366760" y="3200400"/>
            <a:ext cx="1005840" cy="365760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555480" y="2606040"/>
            <a:ext cx="17830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55480" y="2606040"/>
            <a:ext cx="1783080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2606040"/>
            <a:ext cx="17830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20 brands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3776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Trained on Kaggle car images; 70/15/15 stratified split; early stopping at patience 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Brands drawn live on the video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Calibri"/>
              </a:rPr>
              <a:t>Car-only crops · 80×80 min · trucks excluded by design</a:t>
            </a:r>
          </a:p>
        </p:txBody>
      </p:sp>
      <p:pic>
        <p:nvPicPr>
          <p:cNvPr id="6" name="Picture 5" descr="clip_yolo_result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7132320" cy="4813975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8275320" y="2057400"/>
            <a:ext cx="306324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2093976"/>
            <a:ext cx="30632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Calibri"/>
              </a:rPr>
              <a:t>Frame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2770632"/>
            <a:ext cx="306324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807208"/>
            <a:ext cx="30632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Calibri"/>
              </a:rPr>
              <a:t>YOLO crop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3483864"/>
            <a:ext cx="306324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3520440"/>
            <a:ext cx="30632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Calibri"/>
              </a:rPr>
              <a:t>CLIP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197096"/>
            <a:ext cx="306324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4233672"/>
            <a:ext cx="30632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Calibri"/>
              </a:rPr>
              <a:t>softmax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4910328"/>
            <a:ext cx="306324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4946904"/>
            <a:ext cx="30632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Calibri"/>
              </a:rPr>
              <a:t>label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989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Real output: YOLO26s boxes + CLIP brand chips (BMW, Peugeot …). Trucks excluded by design — car-only probe.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0" b="1">
                <a:solidFill>
                  <a:srgbClr val="1E293B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366F1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600" b="1">
                <a:solidFill>
                  <a:srgbClr val="FFFFFF"/>
                </a:solidFill>
                <a:latin typeface="Calibri"/>
              </a:rPr>
              <a:t>Explain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58968" y="3931920"/>
            <a:ext cx="128016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4A3B8"/>
                </a:solidFill>
                <a:latin typeface="Calibri"/>
              </a:rPr>
              <a:t>3 of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The ultimate interface is plain language.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lm_caption_red_car_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828800"/>
            <a:ext cx="8503920" cy="2113644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1828800" y="562356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366F1"/>
                </a:solidFill>
                <a:latin typeface="Calibri"/>
              </a:rPr>
              <a:t>"A red car is driving down a wet road in the rain, approaching a traffic light."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Scene captioning + frame-based Q&amp;A so any viewer — not just an engineer — can follow the story.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Adaptive captioning — only when the scene changes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Calibri"/>
              </a:rPr>
              <a:t>Qwen3-VL:4b via Ollama · adaptive gating · diff ≥ 12 · min interval 5 s</a:t>
            </a:r>
          </a:p>
        </p:txBody>
      </p:sp>
      <p:pic>
        <p:nvPicPr>
          <p:cNvPr id="6" name="Picture 5" descr="vlm_caption_red_car_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5120640" cy="1272732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2960" y="56235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366F1"/>
                </a:solidFill>
                <a:latin typeface="Calibri"/>
              </a:rPr>
              <a:t>"A red car is driving down a wet road in the rain, approaching a traffic light."</a:t>
            </a:r>
          </a:p>
        </p:txBody>
      </p:sp>
      <p:pic>
        <p:nvPicPr>
          <p:cNvPr id="8" name="Picture 7" descr="vlm_caption_truck_pedestri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2011680"/>
            <a:ext cx="5120640" cy="1381681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245352" y="56235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366F1"/>
                </a:solidFill>
                <a:latin typeface="Calibri"/>
              </a:rPr>
              <a:t>"A white truck and a pedestrian are crossing the road at a pedestrian crossing..."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89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Captions fire only when the scene actually changes — no redundant narration.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Frame-based Q&amp;A — ask what you see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63040" y="1737360"/>
            <a:ext cx="9235440" cy="384048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69280" y="301752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5961888" y="3264408"/>
            <a:ext cx="292608" cy="329184"/>
          </a:xfrm>
          <a:prstGeom prst="triangl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3931920"/>
            <a:ext cx="9235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VLM Q&amp;A interface — user typing a question, answer appearing (5-sec clip)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Useful for accident reconstruction, driver training, or live demo interaction.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Four stages · one coherent story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Calibri"/>
              </a:rPr>
              <a:t>The main pipeline runs end-to-end; SegFormer runs alongside, independently.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1454" y="2240280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1454" y="2240280"/>
            <a:ext cx="1874519" cy="508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1454" y="233172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Raw</a:t>
            </a:r>
          </a:p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Video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70837" y="2807208"/>
            <a:ext cx="274320" cy="237744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00021" y="2240280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00021" y="2240280"/>
            <a:ext cx="1874519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00021" y="233172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YOLO26s</a:t>
            </a:r>
          </a:p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Detection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29404" y="2807208"/>
            <a:ext cx="274320" cy="237744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8588" y="2240280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58588" y="2240280"/>
            <a:ext cx="1874519" cy="50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58588" y="233172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CLIP Brand</a:t>
            </a:r>
          </a:p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Probe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087971" y="2807208"/>
            <a:ext cx="274320" cy="237744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17155" y="2240280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17155" y="2240280"/>
            <a:ext cx="1874519" cy="508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17155" y="233172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VLM Caption</a:t>
            </a:r>
          </a:p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&amp; Q&amp;A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346538" y="2807208"/>
            <a:ext cx="274320" cy="237744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75722" y="2240280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75722" y="2240280"/>
            <a:ext cx="1874519" cy="508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75722" y="233172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Structured</a:t>
            </a:r>
          </a:p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Understanding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1454" y="4343400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1454" y="4343400"/>
            <a:ext cx="1874519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454" y="443484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SegFormer</a:t>
            </a:r>
          </a:p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Segmentation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69569" y="3611880"/>
            <a:ext cx="22860" cy="7315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81733" y="4572000"/>
            <a:ext cx="5943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Calibri"/>
              </a:rPr>
              <a:t>Standalone quality demo — shares the input video,</a:t>
            </a:r>
          </a:p>
          <a:p>
            <a:pPr algn="l"/>
            <a:r>
              <a:rPr sz="1600" b="0">
                <a:solidFill>
                  <a:srgbClr val="475569"/>
                </a:solidFill>
                <a:latin typeface="Calibri"/>
              </a:rPr>
              <a:t>but feeds no downstream stage.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608076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Speed: YOLO is fast · CLIP is moderate (one crop at a time) · SegFormer &amp; VLM are slow, selective, or offline-only.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Results &amp; Key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9175" y="2011680"/>
            <a:ext cx="24688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9175" y="2011680"/>
            <a:ext cx="2468880" cy="635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9175" y="22402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D9488"/>
                </a:solidFill>
                <a:latin typeface="Calibri"/>
              </a:rPr>
              <a:t>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6335" y="278892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P = 0.874</a:t>
            </a:r>
          </a:p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R = 0.754</a:t>
            </a:r>
          </a:p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mAP@0.5 = 0.842</a:t>
            </a:r>
          </a:p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mAP@0.5:0.95 = 0.515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0663" y="2011680"/>
            <a:ext cx="24688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0663" y="2011680"/>
            <a:ext cx="2468880" cy="63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0663" y="22402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D97706"/>
                </a:solidFill>
                <a:latin typeface="Calibri"/>
              </a:rPr>
              <a:t>Enrichment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7823" y="278892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Probe accuracy ≈ 80 %</a:t>
            </a:r>
          </a:p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20 brands</a:t>
            </a:r>
          </a:p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(79.8 % on test split)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2151" y="2011680"/>
            <a:ext cx="24688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2151" y="2011680"/>
            <a:ext cx="2468880" cy="635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2151" y="22402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D9488"/>
                </a:solidFill>
                <a:latin typeface="Calibri"/>
              </a:rPr>
              <a:t>Segmentation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8892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19 Cityscapes classes</a:t>
            </a:r>
          </a:p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84 % mIoU (pretrained)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3639" y="2011680"/>
            <a:ext cx="24688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03639" y="2011680"/>
            <a:ext cx="2468880" cy="635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3639" y="22402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366F1"/>
                </a:solidFill>
                <a:latin typeface="Calibri"/>
              </a:rPr>
              <a:t>Narration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0799" y="278892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Adaptive captioning</a:t>
            </a:r>
          </a:p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local inference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YOLOv10n baseline → YOLO26s:  +24.7% mAP@0.5,  +32.7% mAP@0.5:0.95,  +26.1% recall.  Hardest class: pedestrian (mAP 0.692).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55448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E293B"/>
                </a:solidFill>
                <a:latin typeface="Calibri"/>
              </a:rPr>
              <a:t>From pixels to plain language —</a:t>
            </a:r>
          </a:p>
          <a:p>
            <a:pPr algn="ctr"/>
            <a:r>
              <a:rPr sz="3000" b="1">
                <a:solidFill>
                  <a:srgbClr val="1E293B"/>
                </a:solidFill>
                <a:latin typeface="Calibri"/>
              </a:rPr>
              <a:t>and next, to real-time edge deployment.</a:t>
            </a:r>
          </a:p>
        </p:txBody>
      </p:sp>
      <p:sp>
        <p:nvSpPr>
          <p:cNvPr id="3" name="Rectangle 2"/>
          <p:cNvSpPr/>
          <p:nvPr/>
        </p:nvSpPr>
        <p:spPr>
          <a:xfrm>
            <a:off x="5458968" y="274320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31089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Calibri"/>
              </a:rPr>
              <a:t>·   Multi-camera fusion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3675888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Calibri"/>
              </a:rPr>
              <a:t>·   On-device quantization for edge speed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242816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Calibri"/>
              </a:rPr>
              <a:t>·   Temporal tracking to reduce flicker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