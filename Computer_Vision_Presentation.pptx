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our computer-vision project: a multi-stage pipeline that turns raw dashcam video into structured, narrated, and queryable street understanding.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Attention: Self-driving cars detect every obstacle — but passengers still don't know why the car braked.</a:t>
            </a:r>
          </a:p>
          <a:p>
            <a:r>
              <a:t>Benefit: One pipeline turns raw dashcam video into a marketing-ready story — boxed objects, named brands, plain-language captions — so any viewer can follow what the car sees.</a:t>
            </a:r>
          </a:p>
          <a:p>
            <a:r>
              <a:t>Credibility: 4 stages across 3 sections · YOLO26s · CLIP · VLM · SegFormer — all running locally.</a:t>
            </a:r>
          </a:p>
          <a:p>
            <a:r>
              <a:t>Destination: In the next 15 minutes: Detect → Enrich → Explain.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talk follows the actual data flow of the pipeline: first we find and segment objects, then we add fine-grained identity, then we turn everything into a story any viewer can follow.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Left: original dashcam video (original_videos/dashcam.mp4). Right: YOLO26s detection overlay (other_document/video archive/output video/10.05.2026/annotated_video_yolo.mp4). YOLO gives us boxes, but a car has a brand. The scene is not just objects — it is road, sidewalk, sky. We need two detection layers.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YOLOv10n baseline: P=0.801, R=0.598, mAP@0.5=0.675, mAP@0.5:0.95=0.388.  YOLO26s: P=0.874, R=0.754, mAP@0.5=0.842, mAP@0.5:0.95=0.515.  The 9.4 M parameter backbone with C2PSA blocks delivers a significant accuracy lift — especially on recall and strict mAP. Pedestrian remains the hardest class (mAP 0.692) due to scale and occlusion. The dataset covers 11 street classes including nuanced traffic-light states.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Our newest stage answers the same question as YOLO, but at the pixel level: what is in this scene? Road (purple), vegetation (green), vehicles (red), sky (blue) — scene geometry, not just boxes. SegFormer-B5 is pretrained on Cityscapes (84% mIoU) and generalises directly to our dashcam domain without any fine-tuning.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we can detect cars and map the scene. But knowing that it's a car isn't enough — what kind of car is it?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Detection gives us generic classes. Enrichment gives us identity — turning 'car' into 'Toyota' so the viewer knows the system truly understands, not just locates.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freeze CLIP's general car knowledge and learn a lightweight 512→20 probe on top. Strong brand discrimination, no overfitting.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real outputs from Stage 2b. Left: a single-frame validation check. Right: a frame extracted from the actual annotated video output. In both, YOLO26s detects the cars (YOLO conf=0.2); CLIP crops each car, runs it through the frozen ViT-B-32 backbone and the learned 512→20 linear probe, and overlays the top-1 brand with confidence. We only run CLIP on car crops above 80×80 px. Trucks are intentionally skipped — the probe was trained on car-only images and would miscalibrate on truck crops. Brand confidence is currently not thresholded (a known limit).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 can locate and name every car. Now: how do we tell the story to a human who doesn't read bounding boxes?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Explain stage in action. Two real frames from Stage 3 showing adaptive captioning: the left triggers a 'rainy driving' caption; the right triggers a 'pedestrian crossing' caption — because the scene changed enough (diff ≥ 12) and the minimum 5-second interval elapsed. YOLO sees 'car, trafficLight' — the VLM narrates 'A red car is driving down a wet road in the rain...' Boxes and brands are intermediate outputs. The real product is a sentence any human can read. That's what a customer demo needs.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real Q&amp;A output from Stage 3. The user paused a frame and asked a question about the scene; the VLM (Qwen3-VL:4b) responds with a direct answer grounded in what it sees. No pre-scripted responses — every answer is generated on-the-fly for that specific frame. This is the difference between a detection system and an explainable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full stack. Detect gives us structure. Enrich adds identity. Explain produces the narrative. SegFormer shares the same input video but runs on its own — it's a quality demo, not part of the live pipeline. Three sections, four stages, one demo video.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Detection: YOLOv10n (P=0.801, R=0.598, mAP@0.5=0.675, mAP@0.5:0.95=0.388) upgraded to YOLO26s (P=0.874, R=0.754, mAP@0.5=0.842, mAP@0.5:0.95=0.515) — a substantial accuracy lift across all metrics. The C2PSA backbone (9.4 M params) generalises well on 11 dashcam classes; pedestrian remains hardest due to scale and occlusion.  Enrichment: Brand recognition jumps from 55% zero-shot to 80% with the probe — a 25-point gain from a single linear layer on frozen embeddings. Segmentation leverages a pretrained SOTA model for immediate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pipeline works end-to-end on a local GPU. The next step is shrinking it: TensorRT, ONNX, and temporal smoothing so it runs on an embedded dashcam unit. Thank you — we're happy to take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48840"/>
            <a:ext cx="1054577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1">
                <a:solidFill>
                  <a:srgbClr val="1E293B"/>
                </a:solidFill>
                <a:latin typeface="Calibri"/>
              </a:rPr>
              <a:t>Street-Scene Intelligence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184648" y="3246120"/>
            <a:ext cx="1828800" cy="381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520440"/>
            <a:ext cx="1054577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475569"/>
                </a:solidFill>
                <a:latin typeface="Calibri"/>
              </a:rPr>
              <a:t>A Multi-Stage Pipeline for Traffic-Scene Detection, Brand Recognition, and Natural-Language Explanation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61772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94A3B8"/>
                </a:solidFill>
                <a:latin typeface="Calibri"/>
              </a:rPr>
              <a:t>Dongyuan Gao   ·   Solène Cosandey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475569"/>
                </a:solidFill>
                <a:latin typeface="Calibri"/>
              </a:rPr>
              <a:t>Our demo pipeline bridges the gap between raw detection and human trust.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377440"/>
            <a:ext cx="1054577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>
                <a:solidFill>
                  <a:srgbClr val="1E293B"/>
                </a:solidFill>
                <a:latin typeface="Calibri"/>
              </a:rPr>
              <a:t>How do we improve trust</a:t>
            </a:r>
          </a:p>
          <a:p>
            <a:pPr algn="ctr"/>
            <a:r>
              <a:rPr sz="4600" b="1">
                <a:solidFill>
                  <a:srgbClr val="1E293B"/>
                </a:solidFill>
                <a:latin typeface="Calibri"/>
              </a:rPr>
              <a:t>in self-driving cars?</a:t>
            </a:r>
          </a:p>
        </p:txBody>
      </p:sp>
      <p:sp>
        <p:nvSpPr>
          <p:cNvPr id="4" name="Rectangle 3"/>
          <p:cNvSpPr/>
          <p:nvPr/>
        </p:nvSpPr>
        <p:spPr>
          <a:xfrm>
            <a:off x="5458968" y="3977639"/>
            <a:ext cx="1280160" cy="381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25196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D9488"/>
                </a:solidFill>
                <a:latin typeface="Calibri"/>
              </a:rPr>
              <a:t>In the next 15 minutes:  Detect  →  Enrich  →  Explain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E293B"/>
                </a:solidFill>
                <a:latin typeface="Calibri"/>
              </a:rPr>
              <a:t>Three Sections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234440"/>
            <a:ext cx="1280160" cy="381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19759" y="2194560"/>
            <a:ext cx="3200400" cy="2834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19759" y="2194560"/>
            <a:ext cx="3200400" cy="635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19759" y="246888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>
                <a:solidFill>
                  <a:srgbClr val="0D9488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9759" y="33375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E293B"/>
                </a:solidFill>
                <a:latin typeface="Calibri"/>
              </a:rPr>
              <a:t>Detect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48359" y="3977639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475569"/>
                </a:solidFill>
                <a:latin typeface="Calibri"/>
              </a:rPr>
              <a:t>Find and segment objects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95647" y="2194560"/>
            <a:ext cx="3200400" cy="2834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95647" y="2194560"/>
            <a:ext cx="3200400" cy="635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95647" y="246888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>
                <a:solidFill>
                  <a:srgbClr val="D97706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95647" y="33375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E293B"/>
                </a:solidFill>
                <a:latin typeface="Calibri"/>
              </a:rPr>
              <a:t>Enrich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24247" y="3977639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475569"/>
                </a:solidFill>
                <a:latin typeface="Calibri"/>
              </a:rPr>
              <a:t>Add fine-grained identity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71535" y="2194560"/>
            <a:ext cx="3200400" cy="2834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71535" y="2194560"/>
            <a:ext cx="3200400" cy="635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71535" y="246888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600" b="1">
                <a:solidFill>
                  <a:srgbClr val="6366F1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71535" y="333756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1">
                <a:solidFill>
                  <a:srgbClr val="1E293B"/>
                </a:solidFill>
                <a:latin typeface="Calibri"/>
              </a:rPr>
              <a:t>Explain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00135" y="3977639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475569"/>
                </a:solidFill>
                <a:latin typeface="Calibri"/>
              </a:rPr>
              <a:t>Turn everything into a story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457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E293B"/>
                </a:solidFill>
                <a:latin typeface="Calibri"/>
              </a:rPr>
              <a:t>Finding objects is step one — we also need to see the whole scene.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234440"/>
            <a:ext cx="1280160" cy="381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dashcam_raw_fr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011680"/>
            <a:ext cx="4572000" cy="257175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2296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Calibri"/>
              </a:rPr>
              <a:t>Original dashcam frame (source video)</a:t>
            </a:r>
          </a:p>
        </p:txBody>
      </p:sp>
      <p:pic>
        <p:nvPicPr>
          <p:cNvPr id="7" name="Picture 6" descr="dashcam_yolo_fra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6832" y="2011680"/>
            <a:ext cx="4572000" cy="257175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6656832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Calibri"/>
              </a:rPr>
              <a:t>YOLO26s detection overlay (annotated video)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5650992" y="3520440"/>
            <a:ext cx="868680" cy="411480"/>
          </a:xfrm>
          <a:prstGeom prst="right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457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E293B"/>
                </a:solidFill>
                <a:latin typeface="Calibri"/>
              </a:rPr>
              <a:t>YOLO26s — fast object detection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234440"/>
            <a:ext cx="1280160" cy="381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475569"/>
                </a:solidFill>
                <a:latin typeface="Calibri"/>
              </a:rPr>
              <a:t>11 classes · 512 px · 30 epochs · mAP@0.5 = 0.842  ·  mAP@0.5:0.95 = 0.515</a:t>
            </a:r>
          </a:p>
        </p:txBody>
      </p:sp>
      <p:pic>
        <p:nvPicPr>
          <p:cNvPr id="6" name="Picture 5" descr="yolo_val_prediction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011680"/>
            <a:ext cx="3657600" cy="365760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7" name="Rounded Rectangle 6"/>
          <p:cNvSpPr/>
          <p:nvPr/>
        </p:nvSpPr>
        <p:spPr>
          <a:xfrm>
            <a:off x="8275320" y="2011680"/>
            <a:ext cx="306324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75320" y="2011680"/>
            <a:ext cx="3063240" cy="508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75320" y="2176272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D9488"/>
                </a:solidFill>
                <a:latin typeface="Calibri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75320" y="2670048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75569"/>
                </a:solidFill>
                <a:latin typeface="Calibri"/>
              </a:rPr>
              <a:t>Classes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20" y="3246120"/>
            <a:ext cx="306324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75320" y="3246120"/>
            <a:ext cx="3063240" cy="508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75320" y="3410712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D9488"/>
                </a:solidFill>
                <a:latin typeface="Calibri"/>
              </a:rPr>
              <a:t>512 px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3904488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75569"/>
                </a:solidFill>
                <a:latin typeface="Calibri"/>
              </a:rPr>
              <a:t>Image Size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75320" y="4480560"/>
            <a:ext cx="306324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75320" y="4480560"/>
            <a:ext cx="3063240" cy="508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4645152"/>
            <a:ext cx="3063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D9488"/>
                </a:solidFill>
                <a:latin typeface="Calibri"/>
              </a:rPr>
              <a:t>30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5138928"/>
            <a:ext cx="3063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75569"/>
                </a:solidFill>
                <a:latin typeface="Calibri"/>
              </a:rPr>
              <a:t>Epochs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98932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Upgraded from YOLOv10n → YOLO26s:  +24.7% mAP@0.5,  +32.7% mAP@0.5:0.95,  +26.1% recall  (11-class Self-Driving-Car-3, 30 epochs).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457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E293B"/>
                </a:solidFill>
                <a:latin typeface="Calibri"/>
              </a:rPr>
              <a:t>SegFormer-B5 — pixel-level scene understanding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234440"/>
            <a:ext cx="1280160" cy="381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475569"/>
                </a:solidFill>
                <a:latin typeface="Calibri"/>
              </a:rPr>
              <a:t>Cityscapes · 19 classes · 84 % mIoU</a:t>
            </a:r>
          </a:p>
        </p:txBody>
      </p:sp>
      <p:pic>
        <p:nvPicPr>
          <p:cNvPr id="6" name="Picture 5" descr="segformer_orig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011680"/>
            <a:ext cx="3383280" cy="2413164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22960" y="562356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Calibri"/>
              </a:rPr>
              <a:t>Original</a:t>
            </a:r>
          </a:p>
        </p:txBody>
      </p:sp>
      <p:pic>
        <p:nvPicPr>
          <p:cNvPr id="8" name="Picture 7" descr="segformer_ma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07408" y="2011680"/>
            <a:ext cx="3383280" cy="2158508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4407408" y="562356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Calibri"/>
              </a:rPr>
              <a:t>Mask</a:t>
            </a:r>
          </a:p>
        </p:txBody>
      </p:sp>
      <p:pic>
        <p:nvPicPr>
          <p:cNvPr id="10" name="Picture 9" descr="segformer_blen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91856" y="2011680"/>
            <a:ext cx="3383280" cy="2263298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7991856" y="562356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0D9488"/>
                </a:solidFill>
                <a:latin typeface="Calibri"/>
              </a:rPr>
              <a:t>Overlay (α=0.5)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98932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Nearest-neighbor upsampling preserves boundaries; 2,516 frames at ~5 it/s (~8 min) — quality demo, not real-time.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6012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0" b="1">
                <a:solidFill>
                  <a:srgbClr val="1E293B"/>
                </a:solidFill>
                <a:latin typeface="Calibr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D97706"/>
                </a:solidFill>
                <a:latin typeface="Calibri"/>
              </a:rPr>
              <a:t>SECTION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4577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600" b="1">
                <a:solidFill>
                  <a:srgbClr val="FFFFFF"/>
                </a:solidFill>
                <a:latin typeface="Calibri"/>
              </a:rPr>
              <a:t>Enrich</a:t>
            </a:r>
          </a:p>
        </p:txBody>
      </p:sp>
      <p:sp>
        <p:nvSpPr>
          <p:cNvPr id="6" name="Rectangle 5"/>
          <p:cNvSpPr/>
          <p:nvPr/>
        </p:nvSpPr>
        <p:spPr>
          <a:xfrm>
            <a:off x="5458968" y="3931920"/>
            <a:ext cx="1280160" cy="381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94A3B8"/>
                </a:solidFill>
                <a:latin typeface="Calibri"/>
              </a:rPr>
              <a:t>2 of 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457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E293B"/>
                </a:solidFill>
                <a:latin typeface="Calibri"/>
              </a:rPr>
              <a:t>YOLO says 'car.'  We want to say 'Volkswagen.'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234440"/>
            <a:ext cx="1280160" cy="381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463040" y="2377440"/>
            <a:ext cx="2194560" cy="1645920"/>
          </a:xfrm>
          <a:prstGeom prst="roundRect">
            <a:avLst/>
          </a:prstGeom>
          <a:solidFill>
            <a:srgbClr val="EEF2F6"/>
          </a:solidFill>
          <a:ln w="1905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2377440"/>
            <a:ext cx="2194560" cy="1645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>
                <a:solidFill>
                  <a:srgbClr val="475569"/>
                </a:solidFill>
                <a:latin typeface="Calibri"/>
              </a:rPr>
              <a:t>YOLO box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977639" y="2971800"/>
            <a:ext cx="1371600" cy="502920"/>
          </a:xfrm>
          <a:prstGeom prst="rightArrow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760720" y="1920240"/>
            <a:ext cx="4023360" cy="2560320"/>
          </a:xfrm>
          <a:prstGeom prst="roundRect">
            <a:avLst/>
          </a:prstGeom>
          <a:solidFill>
            <a:srgbClr val="EEF2F6"/>
          </a:solidFill>
          <a:ln w="1905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0" y="1920240"/>
            <a:ext cx="4023360" cy="2560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0">
                <a:solidFill>
                  <a:srgbClr val="475569"/>
                </a:solidFill>
                <a:latin typeface="Calibri"/>
              </a:rPr>
              <a:t>High-res car crop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84632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Use case: fleet analytics, insurance claims, recall targeting, customer trust.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457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E293B"/>
                </a:solidFill>
                <a:latin typeface="Calibri"/>
              </a:rPr>
              <a:t>Frozen backbone + a learned linear probe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234440"/>
            <a:ext cx="1280160" cy="381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475569"/>
                </a:solidFill>
                <a:latin typeface="Calibri"/>
              </a:rPr>
              <a:t>OpenCLIP ViT-B-32 (frozen) + nn.Linear(512 → 20) = 20-brand classifier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286000"/>
            <a:ext cx="274320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14400" y="2286000"/>
            <a:ext cx="2743200" cy="5080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286000"/>
            <a:ext cx="274320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1E293B"/>
                </a:solidFill>
                <a:latin typeface="Calibri"/>
              </a:rPr>
              <a:t>OpenCLIP</a:t>
            </a:r>
          </a:p>
          <a:p>
            <a:pPr algn="ctr"/>
            <a:r>
              <a:rPr sz="1600" b="1">
                <a:solidFill>
                  <a:srgbClr val="1E293B"/>
                </a:solidFill>
                <a:latin typeface="Calibri"/>
              </a:rPr>
              <a:t>ViT-B-32</a:t>
            </a:r>
          </a:p>
          <a:p>
            <a:pPr algn="ctr"/>
            <a:r>
              <a:rPr sz="1600" b="1">
                <a:solidFill>
                  <a:srgbClr val="1E293B"/>
                </a:solidFill>
                <a:latin typeface="Calibri"/>
              </a:rPr>
              <a:t>(frozen)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886200" y="3200400"/>
            <a:ext cx="1280160" cy="365760"/>
          </a:xfrm>
          <a:prstGeom prst="rightArrow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394960" y="2606040"/>
            <a:ext cx="274320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394960" y="2606040"/>
            <a:ext cx="2743200" cy="508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94960" y="2606040"/>
            <a:ext cx="274320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1E293B"/>
                </a:solidFill>
                <a:latin typeface="Calibri"/>
              </a:rPr>
              <a:t>nn.Linear</a:t>
            </a:r>
          </a:p>
          <a:p>
            <a:pPr algn="ctr"/>
            <a:r>
              <a:rPr sz="1600" b="1">
                <a:solidFill>
                  <a:srgbClr val="1E293B"/>
                </a:solidFill>
                <a:latin typeface="Calibri"/>
              </a:rPr>
              <a:t>(512 → 20)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366760" y="3200400"/>
            <a:ext cx="1005840" cy="365760"/>
          </a:xfrm>
          <a:prstGeom prst="rightArrow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9555480" y="2606040"/>
            <a:ext cx="178308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555480" y="2606040"/>
            <a:ext cx="1783080" cy="508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55480" y="2606040"/>
            <a:ext cx="1783080" cy="15544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600" b="1">
                <a:solidFill>
                  <a:srgbClr val="1E293B"/>
                </a:solidFill>
                <a:latin typeface="Calibri"/>
              </a:rPr>
              <a:t>20 brands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93776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Trained on Kaggle car images; 70/15/15 stratified split; early stopping at patience 7.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457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E293B"/>
                </a:solidFill>
                <a:latin typeface="Calibri"/>
              </a:rPr>
              <a:t>Brands drawn live on the video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234440"/>
            <a:ext cx="1280160" cy="381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475569"/>
                </a:solidFill>
                <a:latin typeface="Calibri"/>
              </a:rPr>
              <a:t>Car-only crops · 80×80 min · trucks excluded by design</a:t>
            </a:r>
          </a:p>
        </p:txBody>
      </p:sp>
      <p:pic>
        <p:nvPicPr>
          <p:cNvPr id="6" name="Picture 5" descr="clip_yolo_result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011680"/>
            <a:ext cx="4064288" cy="274320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22960" y="4892040"/>
            <a:ext cx="488289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D97706"/>
                </a:solidFill>
                <a:latin typeface="Calibri"/>
              </a:rPr>
              <a:t>Single-frame check</a:t>
            </a:r>
          </a:p>
        </p:txBody>
      </p:sp>
      <p:pic>
        <p:nvPicPr>
          <p:cNvPr id="8" name="Picture 7" descr="clip linear probe vide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71616" y="2011680"/>
            <a:ext cx="5302405" cy="274320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071616" y="4892040"/>
            <a:ext cx="529437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D97706"/>
                </a:solidFill>
                <a:latin typeface="Calibri"/>
              </a:rPr>
              <a:t>Video frame output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2350" y="5349240"/>
            <a:ext cx="1874519" cy="457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2350" y="5385816"/>
            <a:ext cx="187451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D97706"/>
                </a:solidFill>
                <a:latin typeface="Calibri"/>
              </a:rPr>
              <a:t>Frame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55469" y="5349240"/>
            <a:ext cx="1874519" cy="457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55469" y="5385816"/>
            <a:ext cx="187451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D97706"/>
                </a:solidFill>
                <a:latin typeface="Calibri"/>
              </a:rPr>
              <a:t>YOLO crop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58588" y="5349240"/>
            <a:ext cx="1874519" cy="457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58588" y="5385816"/>
            <a:ext cx="187451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D97706"/>
                </a:solidFill>
                <a:latin typeface="Calibri"/>
              </a:rPr>
              <a:t>CLIP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61707" y="5349240"/>
            <a:ext cx="1874519" cy="457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61707" y="5385816"/>
            <a:ext cx="187451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D97706"/>
                </a:solidFill>
                <a:latin typeface="Calibri"/>
              </a:rPr>
              <a:t>softmax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64826" y="5349240"/>
            <a:ext cx="1874519" cy="4572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64826" y="5385816"/>
            <a:ext cx="1874519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100" b="1">
                <a:solidFill>
                  <a:srgbClr val="D97706"/>
                </a:solidFill>
                <a:latin typeface="Calibri"/>
              </a:rPr>
              <a:t>label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98932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Real output: YOLO26s boxes + CLIP brand chips (BMW, Peugeot …) on both static checks and running video. Trucks excluded by design — car-only probe.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6012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0" b="1">
                <a:solidFill>
                  <a:srgbClr val="1E293B"/>
                </a:solidFill>
                <a:latin typeface="Calibr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457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6366F1"/>
                </a:solidFill>
                <a:latin typeface="Calibri"/>
              </a:rPr>
              <a:t>SECTION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4577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600" b="1">
                <a:solidFill>
                  <a:srgbClr val="FFFFFF"/>
                </a:solidFill>
                <a:latin typeface="Calibri"/>
              </a:rPr>
              <a:t>Explain</a:t>
            </a:r>
          </a:p>
        </p:txBody>
      </p:sp>
      <p:sp>
        <p:nvSpPr>
          <p:cNvPr id="6" name="Rectangle 5"/>
          <p:cNvSpPr/>
          <p:nvPr/>
        </p:nvSpPr>
        <p:spPr>
          <a:xfrm>
            <a:off x="5458968" y="3931920"/>
            <a:ext cx="1280160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94A3B8"/>
                </a:solidFill>
                <a:latin typeface="Calibri"/>
              </a:rPr>
              <a:t>3 of 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457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E293B"/>
                </a:solidFill>
                <a:latin typeface="Calibri"/>
              </a:rPr>
              <a:t>The ultimate interface is plain language — adaptive and audience-ready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234440"/>
            <a:ext cx="1280160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475569"/>
                </a:solidFill>
                <a:latin typeface="Calibri"/>
              </a:rPr>
              <a:t>Qwen3-VL:4b via Ollama · adaptive gating · diff ≥ 12 · min interval 5 s</a:t>
            </a:r>
          </a:p>
        </p:txBody>
      </p:sp>
      <p:pic>
        <p:nvPicPr>
          <p:cNvPr id="6" name="Picture 5" descr="vlm_caption_red_car_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011680"/>
            <a:ext cx="5120640" cy="1272732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22960" y="56235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366F1"/>
                </a:solidFill>
                <a:latin typeface="Calibri"/>
              </a:rPr>
              <a:t>"A red car is driving down a wet road in the rain, approaching a traffic light."</a:t>
            </a:r>
          </a:p>
        </p:txBody>
      </p:sp>
      <p:pic>
        <p:nvPicPr>
          <p:cNvPr id="8" name="Picture 7" descr="vlm_caption_truck_pedestri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5352" y="2011680"/>
            <a:ext cx="5120640" cy="1381681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245352" y="5623560"/>
            <a:ext cx="5120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6366F1"/>
                </a:solidFill>
                <a:latin typeface="Calibri"/>
              </a:rPr>
              <a:t>"A white truck and a pedestrian are crossing the road at a pedestrian crossing..."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98932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Captions fire only when the scene actually changes — no redundant narration. Any viewer can follow what the car sees.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457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E293B"/>
                </a:solidFill>
                <a:latin typeface="Calibri"/>
              </a:rPr>
              <a:t>Frame-based Q&amp;A — ask what you see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1234440"/>
            <a:ext cx="1280160" cy="381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lm_qna_interf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0" y="1737360"/>
            <a:ext cx="6768960" cy="4023360"/>
          </a:xfrm>
          <a:prstGeom prst="rect">
            <a:avLst/>
          </a:prstGeom>
          <a:ln w="12700">
            <a:solidFill>
              <a:srgbClr val="E2E8F0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822960" y="598932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Pause any frame, type a question, and the VLM answers with evidence — turning a black-box detector into an explainable system.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E293B"/>
                </a:solidFill>
                <a:latin typeface="Calibri"/>
              </a:rPr>
              <a:t>Four stages · one coherent story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234440"/>
            <a:ext cx="1280160" cy="381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475569"/>
                </a:solidFill>
                <a:latin typeface="Calibri"/>
              </a:rPr>
              <a:t>The main pipeline runs end-to-end; SegFormer runs alongside, independently.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1454" y="2240280"/>
            <a:ext cx="1874519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1454" y="2240280"/>
            <a:ext cx="1874519" cy="50800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1454" y="2331720"/>
            <a:ext cx="1874519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E293B"/>
                </a:solidFill>
                <a:latin typeface="Calibri"/>
              </a:rPr>
              <a:t>Raw</a:t>
            </a:r>
          </a:p>
          <a:p>
            <a:pPr algn="ctr"/>
            <a:r>
              <a:rPr sz="1300" b="1">
                <a:solidFill>
                  <a:srgbClr val="1E293B"/>
                </a:solidFill>
                <a:latin typeface="Calibri"/>
              </a:rPr>
              <a:t>Video</a:t>
            </a:r>
          </a:p>
        </p:txBody>
      </p:sp>
      <p:sp>
        <p:nvSpPr>
          <p:cNvPr id="8" name="Right Arrow 7"/>
          <p:cNvSpPr/>
          <p:nvPr/>
        </p:nvSpPr>
        <p:spPr>
          <a:xfrm>
            <a:off x="2570837" y="2807208"/>
            <a:ext cx="274320" cy="237744"/>
          </a:xfrm>
          <a:prstGeom prst="right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900021" y="2240280"/>
            <a:ext cx="1874519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900021" y="2240280"/>
            <a:ext cx="1874519" cy="508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00021" y="2331720"/>
            <a:ext cx="1874519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E293B"/>
                </a:solidFill>
                <a:latin typeface="Calibri"/>
              </a:rPr>
              <a:t>YOLO26s</a:t>
            </a:r>
          </a:p>
          <a:p>
            <a:pPr algn="ctr"/>
            <a:r>
              <a:rPr sz="1300" b="1">
                <a:solidFill>
                  <a:srgbClr val="1E293B"/>
                </a:solidFill>
                <a:latin typeface="Calibri"/>
              </a:rPr>
              <a:t>Detection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829404" y="2807208"/>
            <a:ext cx="274320" cy="237744"/>
          </a:xfrm>
          <a:prstGeom prst="right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158588" y="2240280"/>
            <a:ext cx="1874519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158588" y="2240280"/>
            <a:ext cx="1874519" cy="508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58588" y="2331720"/>
            <a:ext cx="1874519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E293B"/>
                </a:solidFill>
                <a:latin typeface="Calibri"/>
              </a:rPr>
              <a:t>CLIP Brand</a:t>
            </a:r>
          </a:p>
          <a:p>
            <a:pPr algn="ctr"/>
            <a:r>
              <a:rPr sz="1300" b="1">
                <a:solidFill>
                  <a:srgbClr val="1E293B"/>
                </a:solidFill>
                <a:latin typeface="Calibri"/>
              </a:rPr>
              <a:t>Probe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087971" y="2807208"/>
            <a:ext cx="274320" cy="237744"/>
          </a:xfrm>
          <a:prstGeom prst="right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17155" y="2240280"/>
            <a:ext cx="1874519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17155" y="2240280"/>
            <a:ext cx="1874519" cy="508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417155" y="2331720"/>
            <a:ext cx="1874519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E293B"/>
                </a:solidFill>
                <a:latin typeface="Calibri"/>
              </a:rPr>
              <a:t>VLM Caption</a:t>
            </a:r>
          </a:p>
          <a:p>
            <a:pPr algn="ctr"/>
            <a:r>
              <a:rPr sz="1300" b="1">
                <a:solidFill>
                  <a:srgbClr val="1E293B"/>
                </a:solidFill>
                <a:latin typeface="Calibri"/>
              </a:rPr>
              <a:t>&amp; Q&amp;A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346538" y="2807208"/>
            <a:ext cx="274320" cy="237744"/>
          </a:xfrm>
          <a:prstGeom prst="rightArrow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675722" y="2240280"/>
            <a:ext cx="1874519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675722" y="2240280"/>
            <a:ext cx="1874519" cy="508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75722" y="2331720"/>
            <a:ext cx="1874519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E293B"/>
                </a:solidFill>
                <a:latin typeface="Calibri"/>
              </a:rPr>
              <a:t>Structured</a:t>
            </a:r>
          </a:p>
          <a:p>
            <a:pPr algn="ctr"/>
            <a:r>
              <a:rPr sz="1300" b="1">
                <a:solidFill>
                  <a:srgbClr val="1E293B"/>
                </a:solidFill>
                <a:latin typeface="Calibri"/>
              </a:rPr>
              <a:t>Understanding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1454" y="4343400"/>
            <a:ext cx="1874519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1454" y="4343400"/>
            <a:ext cx="1874519" cy="508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1454" y="4434840"/>
            <a:ext cx="1874519" cy="12801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1E293B"/>
                </a:solidFill>
                <a:latin typeface="Calibri"/>
              </a:rPr>
              <a:t>SegFormer</a:t>
            </a:r>
          </a:p>
          <a:p>
            <a:pPr algn="ctr"/>
            <a:r>
              <a:rPr sz="1300" b="1">
                <a:solidFill>
                  <a:srgbClr val="1E293B"/>
                </a:solidFill>
                <a:latin typeface="Calibri"/>
              </a:rPr>
              <a:t>Segmentation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569569" y="3611880"/>
            <a:ext cx="22860" cy="73152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881733" y="4572000"/>
            <a:ext cx="5943600" cy="9144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Calibri"/>
              </a:rPr>
              <a:t>Standalone quality demo — shares the input video,</a:t>
            </a:r>
          </a:p>
          <a:p>
            <a:pPr algn="l"/>
            <a:r>
              <a:rPr sz="1600" b="0">
                <a:solidFill>
                  <a:srgbClr val="475569"/>
                </a:solidFill>
                <a:latin typeface="Calibri"/>
              </a:rPr>
              <a:t>but feeds no downstream stage.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608076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Speed: YOLO is fast · CLIP is moderate (one crop at a time) · SegFormer &amp; VLM are slow, selective, or offline-only.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1E293B"/>
                </a:solidFill>
                <a:latin typeface="Calibri"/>
              </a:rPr>
              <a:t>Results &amp; Key Metrics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234440"/>
            <a:ext cx="1280160" cy="381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9175" y="2011680"/>
            <a:ext cx="246888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9175" y="2011680"/>
            <a:ext cx="2468880" cy="635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9175" y="224028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D9488"/>
                </a:solidFill>
                <a:latin typeface="Calibri"/>
              </a:rPr>
              <a:t>Detection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6335" y="278892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75569"/>
                </a:solidFill>
                <a:latin typeface="Calibri"/>
              </a:rPr>
              <a:t>P = 0.874</a:t>
            </a:r>
          </a:p>
          <a:p>
            <a:pPr algn="ctr"/>
            <a:r>
              <a:rPr sz="1300" b="0">
                <a:solidFill>
                  <a:srgbClr val="475569"/>
                </a:solidFill>
                <a:latin typeface="Calibri"/>
              </a:rPr>
              <a:t>R = 0.754</a:t>
            </a:r>
          </a:p>
          <a:p>
            <a:pPr algn="ctr"/>
            <a:r>
              <a:rPr sz="1300" b="0">
                <a:solidFill>
                  <a:srgbClr val="475569"/>
                </a:solidFill>
                <a:latin typeface="Calibri"/>
              </a:rPr>
              <a:t>mAP@0.5 = 0.842</a:t>
            </a:r>
          </a:p>
          <a:p>
            <a:pPr algn="ctr"/>
            <a:r>
              <a:rPr sz="1300" b="0">
                <a:solidFill>
                  <a:srgbClr val="475569"/>
                </a:solidFill>
                <a:latin typeface="Calibri"/>
              </a:rPr>
              <a:t>mAP@0.5:0.95 = 0.515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80663" y="2011680"/>
            <a:ext cx="246888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80663" y="2011680"/>
            <a:ext cx="2468880" cy="6350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80663" y="224028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D97706"/>
                </a:solidFill>
                <a:latin typeface="Calibri"/>
              </a:rPr>
              <a:t>Enrichment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7823" y="278892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75569"/>
                </a:solidFill>
                <a:latin typeface="Calibri"/>
              </a:rPr>
              <a:t>Probe accuracy ≈ 80 %</a:t>
            </a:r>
          </a:p>
          <a:p>
            <a:pPr algn="ctr"/>
            <a:r>
              <a:rPr sz="1300" b="0">
                <a:solidFill>
                  <a:srgbClr val="475569"/>
                </a:solidFill>
                <a:latin typeface="Calibri"/>
              </a:rPr>
              <a:t>20 brands</a:t>
            </a:r>
          </a:p>
          <a:p>
            <a:pPr algn="ctr"/>
            <a:r>
              <a:rPr sz="1300" b="0">
                <a:solidFill>
                  <a:srgbClr val="475569"/>
                </a:solidFill>
                <a:latin typeface="Calibri"/>
              </a:rPr>
              <a:t>(79.8 % on test split)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2151" y="2011680"/>
            <a:ext cx="246888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42151" y="2011680"/>
            <a:ext cx="2468880" cy="635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42151" y="224028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0D9488"/>
                </a:solidFill>
                <a:latin typeface="Calibri"/>
              </a:rPr>
              <a:t>Segmentation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9311" y="278892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75569"/>
                </a:solidFill>
                <a:latin typeface="Calibri"/>
              </a:rPr>
              <a:t>19 Cityscapes classes</a:t>
            </a:r>
          </a:p>
          <a:p>
            <a:pPr algn="ctr"/>
            <a:r>
              <a:rPr sz="1300" b="0">
                <a:solidFill>
                  <a:srgbClr val="475569"/>
                </a:solidFill>
                <a:latin typeface="Calibri"/>
              </a:rPr>
              <a:t>84 % mIoU (pretrained)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03639" y="2011680"/>
            <a:ext cx="2468880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003639" y="2011680"/>
            <a:ext cx="2468880" cy="63500"/>
          </a:xfrm>
          <a:prstGeom prst="rect">
            <a:avLst/>
          </a:prstGeom>
          <a:solidFill>
            <a:srgbClr val="6366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03639" y="2240280"/>
            <a:ext cx="2468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6366F1"/>
                </a:solidFill>
                <a:latin typeface="Calibri"/>
              </a:rPr>
              <a:t>Narration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0799" y="2788920"/>
            <a:ext cx="21945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475569"/>
                </a:solidFill>
                <a:latin typeface="Calibri"/>
              </a:rPr>
              <a:t>Adaptive captioning</a:t>
            </a:r>
          </a:p>
          <a:p>
            <a:pPr algn="ctr"/>
            <a:r>
              <a:rPr sz="1300" b="0">
                <a:solidFill>
                  <a:srgbClr val="475569"/>
                </a:solidFill>
                <a:latin typeface="Calibri"/>
              </a:rPr>
              <a:t>local inference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029200"/>
            <a:ext cx="1054577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4A3B8"/>
                </a:solidFill>
                <a:latin typeface="Calibri"/>
              </a:rPr>
              <a:t>All four capabilities run on a single local GPU — no cloud dependency.  YOLOv10n → YOLO26s:  +24.7% mAP@0.5,  +32.7% strict mAP,  +26.1% recall.  Hardest class: pedestrian (mAP 0.692).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55448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1E293B"/>
                </a:solidFill>
                <a:latin typeface="Calibri"/>
              </a:rPr>
              <a:t>From pixels to plain language —</a:t>
            </a:r>
          </a:p>
          <a:p>
            <a:pPr algn="ctr"/>
            <a:r>
              <a:rPr sz="3000" b="1">
                <a:solidFill>
                  <a:srgbClr val="1E293B"/>
                </a:solidFill>
                <a:latin typeface="Calibri"/>
              </a:rPr>
              <a:t>and next, to real-time edge deployment.</a:t>
            </a:r>
          </a:p>
        </p:txBody>
      </p:sp>
      <p:sp>
        <p:nvSpPr>
          <p:cNvPr id="3" name="Rectangle 2"/>
          <p:cNvSpPr/>
          <p:nvPr/>
        </p:nvSpPr>
        <p:spPr>
          <a:xfrm>
            <a:off x="5458968" y="2743200"/>
            <a:ext cx="1280160" cy="38100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0" y="3108960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Calibri"/>
              </a:rPr>
              <a:t>·   Multi-camera fusion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0" y="3675888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Calibri"/>
              </a:rPr>
              <a:t>·   On-device quantization for edge speed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4242816"/>
            <a:ext cx="5943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475569"/>
                </a:solidFill>
                <a:latin typeface="Calibri"/>
              </a:rPr>
              <a:t>·   Temporal tracking to reduce flicker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