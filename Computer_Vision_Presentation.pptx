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8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041"/>
  </p:normalViewPr>
  <p:slideViewPr>
    <p:cSldViewPr snapToGrid="0">
      <p:cViewPr varScale="1">
        <p:scale>
          <a:sx n="99" d="100"/>
          <a:sy n="9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27BD1FE-546C-4BD0-AE22-78659BABB4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This is our computer-vision project: a multi-stage pipeline that turns raw dashcam video into structured, narrated, and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queryable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street understanding.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dongy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introduction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1D0CF0-758F-4B61-A3D5-C24CA5533B5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Attention: Self-driving cars detect every obstacle — but passengers still don't know why the car braked.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Benefit: One pipeline turns raw dashcam video into a marketing-ready story — boxed objects, named brands, plain-language captions — so any viewer can follow what the car sees.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Credibility: 4 stages across 3 sections · YOLO26s · CLIP · VLM ·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SegFormer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— all running locally.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Destination: In the next 15 minutes: Detect → Enrich → Explain.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introduction-dongy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1832B8-1112-433F-A230-78C28540688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The talk follows the actual data flow of the pipeline: first we find and segment objects, then we add fine-grained identity, then we turn everything into a story any viewer can follow.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introduction-dongy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B0F4F0-28E8-4AAD-9241-6A47DA330B8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Both frames are extracted from the YOLO26s annotated video output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other_document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/video archive/output video/10.05.2026/annotated_video_yolo.mp4). Frame 1 and Frame 2 show detection on different street scenes — YOLO locates cars, pedestrians, traffic lights, and trucks in real driving conditions. But knowing 'car' is not enough: a car has a brand. And the scene is more than objects — it is road, sidewalk, sky. We need detection at two levels: objects and geometry.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7BE8F6-F264-4581-9346-D7452A7E64D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YOLOv10n baseline: P=0.801, R=0.598, mAP@0.5=0.675, mAP@0.5:0.95=0.388.  YOLO26s: P=0.874, R=0.754, mAP@0.5=0.842, mAP@0.5:0.95=0.515.  The ~10.0 M parameter backbone with C2PSA blocks delivers a significant accuracy lift — especially on recall and strict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mAP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 Pedestrian remains the hardest class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mAP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0.692) due to scale and occlusion. The dataset covers 11 street classes including nuanced traffic-light states.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5E4CA1-046E-40D7-B370-EC89D2EECD3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Our newest stage answers the same question as YOLO, but at the pixel level: what is in this scene? Road (purple), vegetation (green), vehicles (dark blue / navy), sky (light blue) — scene geometry, not just boxes. SegFormer-B5 is pretrained on Cityscapes (84%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mIoU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) and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generalises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directly to our dashcam domain without any fine-tuning.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Key insight: the road mask forms a coherent drivable corridor in the lower-center of the frame — essential for understanding free space. Vehicle pixels 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coloured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dark blue (car) or navy (truck), giving precise footprints rather than rectangular approximations.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Limits: small objects like distant pedestrians and traffic lights may be mislabeled or smeared; per-frame inference causes temporal jitter without optical-flow smoothing; and the fixed 19-class ontology has no category for potholes or construction zones. Safety-critical detection still belongs to YOLO.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D27E26-DF9C-4EFC-ADDB-936111B761D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So we can detect cars and map the scene. But knowing that it's a car isn't enough — what kind of car is it?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1D71BF-1D6C-415D-9FA0-F4825783E7B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Detection gives us generic classes. Enrichment gives us identity — turning 'car' into 'Toyota' so the viewer knows the system truly understands, not just locates.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00DF0B-217F-476B-8123-FA35CC2E48A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We freeze CLIP's general car knowledge and learn a lightweight 512→20 probe on top. This yields strong brand discrimination without overfitting.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C41D0C-6159-4CDD-A9C5-C5394672911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Two real outputs from Stage 2b. Left: a single-frame validation check. Right: a frame extracted from the actual annotated video output. In both, YOLO26s detects the cars (YOLO conf=0.2); CLIP crops each car, runs it through the frozen ViT-B-32 backbone and the learned 512→20 linear probe, and overlays the top-1 brand with confidence. We only run CLIP on car crops above 80×80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px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 Trucks are intentionally skipped — the probe was trained on car-only images and would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miscalibrate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on truck crops. Brand confidence is currently not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thresholded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(a known limit).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detect-solene-enrich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F39C3A-AA2C-406A-BD79-FC688CC6D53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We can locate and name every car. Now: how do we tell the story to a human who doesn't read bounding boxes?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explain-dongy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8C2A09-41E7-43F8-9F49-6D357FD442E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This is the Explain stage in action. Two real frames from Stage 3 showing adaptive captioning: the left triggers a 'rainy driving' caption; the right triggers a 'pedestrian crossing' caption — because the scene changed enough (diff ≥ 12) and the minimum 5-second interval elapsed. YOLO sees 'car,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trafficLight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' — the VLM narrates 'A red car is driving down a wet road in the rain...' Boxes and brands are intermediate outputs. The real product is a sentence any human can read. That's what a customer demo needs.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explain-dongy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6753AA-0DCA-431B-B1D7-1F9DCEAE7DE4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This is a real Q&amp;A output from Stage 3. The user paused a frame and asked a question about the scene; the VLM (Qwen3-VL:4b) responds with a direct answer grounded in what it sees. No pre-scripted responses — every answer is generated on-the-fly for that specific frame. This is the difference between a detection system and an explainable one.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explain-dongy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6C1305-DDB8-4F67-9DC0-30192DF2633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This is the full stack. Detect gives us structure. Enrich adds identity. Explain produces the narrative.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SegFormer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shares the same input video but runs on its own — it's a quality demo, not part of the live pipeline. Three sections, four stages, one demo video.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summary workflow-dongy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34CBB7-3937-4B7A-BC22-846AC7576F9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Detection: YOLOv10n (P=0.801, R=0.598, mAP@0.5=0.675, mAP@0.5:0.95=0.388) upgraded to YOLO26s (P=0.874, R=0.754, mAP@0.5=0.842, mAP@0.5:0.95=0.515) — a substantial accuracy lift across all metrics. The C2PSA backbone (~10.0 M params)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generalises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well on 11 dashcam classes; pedestrian remains hardest due to scale and occlusion.  Enrichment: Brand recognition jumps from 55% zero-shot to 80% with the probe — a 25-point gain from a single linear layer on frozen embeddings. Segmentation leverages a pretrained SOTA model for immediate quality.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closing and limitation, metrics etc-solene 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627D4A-435A-4400-A00F-619D3851A5C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The pipeline works end-to-end on a local GPU. The next step is shrinking it: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TensorRT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, ONNX, and temporal smoothing so it runs on an embedded dashcam unit. Thank you — we're happy to take questions.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CH" sz="2000" dirty="0"/>
              <a:t>closing and limitation, metrics etc-solene 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59B6BD-1B9E-4DF0-8E9E-3A88C443579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38802A-E758-4BBA-A363-C8E0DD5157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861DD1-E560-4986-871B-8DF62B155CB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EC5D5EB-7658-40F6-87D3-7BD63A42419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6C21400-D681-43B5-9AC1-53CD0194CA0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B8EA9A43-BC57-4DCD-A77A-73D3EA7B48B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6B952C4-8630-45AE-8BAA-EC64CB5F83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DA4720C-BE7B-4276-8B91-602425823C4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773DEC9-0885-4F47-835B-CF547A3231A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D94F457-A94B-4F48-BD77-F98FC8E4A3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37D6B087-7AA9-43C7-99EE-D698418248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41BED4F7-6A32-4B97-AE88-1EEA248F23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7B60A7-2B68-45A7-B88A-2C38F540313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F6E4CC-34F0-43CF-A488-47FE08C1754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EF4AC7-E904-47B7-9883-FA9730DFCBE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7090B6-5C4B-4CC6-91F5-C1FD06D292B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9E2841-A179-4109-85DF-5580ABA4953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B89E77-69DA-4565-BDD0-14976264CAD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685336-0D7A-41BB-AA82-A8EA5E4F65C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94C9F0-AD8D-4794-BA19-8C503AA9BFD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FB99CD-12A1-4940-8A13-EEC9C004CB8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520DC0-2E40-4CBB-8FE6-6CF4BBFDF28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D307B-50F5-47D2-B9F1-C3A30ABFCAF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822960" y="2148840"/>
            <a:ext cx="10545480" cy="88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5200" b="1" strike="noStrike" spc="-1">
                <a:solidFill>
                  <a:srgbClr val="1E293B"/>
                </a:solidFill>
                <a:latin typeface="Calibri"/>
              </a:rPr>
              <a:t>Street-Scene Intelligence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5184720" y="3246120"/>
            <a:ext cx="182844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822960" y="3520440"/>
            <a:ext cx="1054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A Multi-Stage Pipeline for Traffic-Scene Detection, Brand Recognition, and Natural-Language Explanation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22960" y="4617720"/>
            <a:ext cx="1054548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94A3B8"/>
                </a:solidFill>
                <a:latin typeface="Calibri"/>
              </a:rPr>
              <a:t>Dongyuan Gao   ·   Solène Cosandey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822960" y="173736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Our demo pipeline bridges the gap between raw detection and human trust.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822960" y="2377440"/>
            <a:ext cx="10545480" cy="149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strike="noStrike" spc="-1">
                <a:solidFill>
                  <a:srgbClr val="1E293B"/>
                </a:solidFill>
                <a:latin typeface="Calibri"/>
              </a:rPr>
              <a:t>How do we improve trust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600" b="1" strike="noStrike" spc="-1">
                <a:solidFill>
                  <a:srgbClr val="1E293B"/>
                </a:solidFill>
                <a:latin typeface="Calibri"/>
              </a:rPr>
              <a:t>in self-driving cars?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5459040" y="39776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822960" y="425196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0D9488"/>
                </a:solidFill>
                <a:latin typeface="Calibri"/>
              </a:rPr>
              <a:t>In the next 15 minutes:  Detect  →  Enrich  →  Explain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Three Sections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819720" y="2194560"/>
            <a:ext cx="3200040" cy="283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819720" y="2194560"/>
            <a:ext cx="3200040" cy="630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819720" y="2468880"/>
            <a:ext cx="320004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strike="noStrike" spc="-1">
                <a:solidFill>
                  <a:srgbClr val="0D9488"/>
                </a:solidFill>
                <a:latin typeface="Calibri"/>
              </a:rPr>
              <a:t>1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819720" y="3337560"/>
            <a:ext cx="32000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E293B"/>
                </a:solidFill>
                <a:latin typeface="Calibri"/>
              </a:rPr>
              <a:t>Detect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1048320" y="3977640"/>
            <a:ext cx="274284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Find and segment objects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8"/>
          <p:cNvSpPr/>
          <p:nvPr/>
        </p:nvSpPr>
        <p:spPr>
          <a:xfrm>
            <a:off x="4495680" y="2194560"/>
            <a:ext cx="3200040" cy="283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9"/>
          <p:cNvSpPr/>
          <p:nvPr/>
        </p:nvSpPr>
        <p:spPr>
          <a:xfrm>
            <a:off x="4495680" y="2194560"/>
            <a:ext cx="3200040" cy="63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4495680" y="2468880"/>
            <a:ext cx="320004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strike="noStrike" spc="-1">
                <a:solidFill>
                  <a:srgbClr val="D97706"/>
                </a:solidFill>
                <a:latin typeface="Calibri"/>
              </a:rPr>
              <a:t>2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4495680" y="3337560"/>
            <a:ext cx="32000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E293B"/>
                </a:solidFill>
                <a:latin typeface="Calibri"/>
              </a:rPr>
              <a:t>Enrich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4724280" y="3977640"/>
            <a:ext cx="27428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Add fine-grained identity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13"/>
          <p:cNvSpPr/>
          <p:nvPr/>
        </p:nvSpPr>
        <p:spPr>
          <a:xfrm>
            <a:off x="8171640" y="2194560"/>
            <a:ext cx="3200040" cy="283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14"/>
          <p:cNvSpPr/>
          <p:nvPr/>
        </p:nvSpPr>
        <p:spPr>
          <a:xfrm>
            <a:off x="8171640" y="2194560"/>
            <a:ext cx="3200040" cy="630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8171640" y="2468880"/>
            <a:ext cx="320004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strike="noStrike" spc="-1">
                <a:solidFill>
                  <a:srgbClr val="6366F1"/>
                </a:solidFill>
                <a:latin typeface="Calibri"/>
              </a:rPr>
              <a:t>3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8171640" y="3337560"/>
            <a:ext cx="32000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E293B"/>
                </a:solidFill>
                <a:latin typeface="Calibri"/>
              </a:rPr>
              <a:t>Explain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7"/>
          <p:cNvSpPr/>
          <p:nvPr/>
        </p:nvSpPr>
        <p:spPr>
          <a:xfrm>
            <a:off x="8400240" y="3977640"/>
            <a:ext cx="274284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Turn everything into a story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822960" y="502920"/>
            <a:ext cx="105454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Finding objects is step one — we also need to see the whole scene.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822960" y="15098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1" name="Picture 4" descr="yolo output frame1.png"/>
          <p:cNvPicPr/>
          <p:nvPr/>
        </p:nvPicPr>
        <p:blipFill>
          <a:blip r:embed="rId3"/>
          <a:stretch/>
        </p:blipFill>
        <p:spPr>
          <a:xfrm>
            <a:off x="822960" y="2011680"/>
            <a:ext cx="4571640" cy="24368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02" name="TextBox 5"/>
          <p:cNvSpPr/>
          <p:nvPr/>
        </p:nvSpPr>
        <p:spPr>
          <a:xfrm>
            <a:off x="822960" y="46634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D9488"/>
                </a:solidFill>
                <a:latin typeface="Calibri"/>
              </a:rPr>
              <a:t>YOLO26s detection overlay — frame 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6" descr="yolo output frame 2.png"/>
          <p:cNvPicPr/>
          <p:nvPr/>
        </p:nvPicPr>
        <p:blipFill>
          <a:blip r:embed="rId4"/>
          <a:stretch/>
        </p:blipFill>
        <p:spPr>
          <a:xfrm>
            <a:off x="6656760" y="2011680"/>
            <a:ext cx="4571640" cy="23990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04" name="TextBox 7"/>
          <p:cNvSpPr/>
          <p:nvPr/>
        </p:nvSpPr>
        <p:spPr>
          <a:xfrm>
            <a:off x="6656760" y="46634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D9488"/>
                </a:solidFill>
                <a:latin typeface="Calibri"/>
              </a:rPr>
              <a:t>YOLO26s detection overlay — frame 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ight Arrow 8"/>
          <p:cNvSpPr/>
          <p:nvPr/>
        </p:nvSpPr>
        <p:spPr>
          <a:xfrm>
            <a:off x="5650920" y="3520440"/>
            <a:ext cx="8683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YOLO26s — fast object detection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822960" y="141732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11 classes · 512 px · 30 epochs · mAP@0.5 = 0.842  ·  mAP@0.5:0.95 = 0.515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5" descr="yolo_val_predictions.jpg"/>
          <p:cNvPicPr/>
          <p:nvPr/>
        </p:nvPicPr>
        <p:blipFill>
          <a:blip r:embed="rId3"/>
          <a:stretch/>
        </p:blipFill>
        <p:spPr>
          <a:xfrm>
            <a:off x="822960" y="2011680"/>
            <a:ext cx="3657240" cy="36572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11" name="Rounded Rectangle 6"/>
          <p:cNvSpPr/>
          <p:nvPr/>
        </p:nvSpPr>
        <p:spPr>
          <a:xfrm>
            <a:off x="8275320" y="2011680"/>
            <a:ext cx="30628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8275320" y="2011680"/>
            <a:ext cx="306288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8275320" y="2176200"/>
            <a:ext cx="3062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0D9488"/>
                </a:solidFill>
                <a:latin typeface="Calibri"/>
              </a:rPr>
              <a:t>11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8275320" y="2670120"/>
            <a:ext cx="30628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Classes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8275320" y="3246120"/>
            <a:ext cx="30628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ectangle 11"/>
          <p:cNvSpPr/>
          <p:nvPr/>
        </p:nvSpPr>
        <p:spPr>
          <a:xfrm>
            <a:off x="8275320" y="3246120"/>
            <a:ext cx="306288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8275320" y="3410640"/>
            <a:ext cx="3062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0D9488"/>
                </a:solidFill>
                <a:latin typeface="Calibri"/>
              </a:rPr>
              <a:t>512 px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8275320" y="3904560"/>
            <a:ext cx="30628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Image Size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14"/>
          <p:cNvSpPr/>
          <p:nvPr/>
        </p:nvSpPr>
        <p:spPr>
          <a:xfrm>
            <a:off x="8275320" y="4480560"/>
            <a:ext cx="30628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ectangle 15"/>
          <p:cNvSpPr/>
          <p:nvPr/>
        </p:nvSpPr>
        <p:spPr>
          <a:xfrm>
            <a:off x="8275320" y="4480560"/>
            <a:ext cx="306288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8275320" y="4645080"/>
            <a:ext cx="3062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0D9488"/>
                </a:solidFill>
                <a:latin typeface="Calibri"/>
              </a:rPr>
              <a:t>30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8275320" y="5139000"/>
            <a:ext cx="30628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Epochs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822960" y="5989320"/>
            <a:ext cx="1054548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Upgraded from YOLOv10n → YOLO26s:  +24.7% mAP@0.5,  +32.7% mAP@0.5:0.95,  +26.1% recall  (11-class Self-Driving-Car-3, 30 epochs).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822960" y="502920"/>
            <a:ext cx="105454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SegFormer-B5 — pixel-level scene understanding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822960" y="14036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822960" y="141732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Cityscapes · 19 classes · 84 % mIoU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5" descr="segformer_original.png"/>
          <p:cNvPicPr/>
          <p:nvPr/>
        </p:nvPicPr>
        <p:blipFill>
          <a:blip r:embed="rId3"/>
          <a:stretch/>
        </p:blipFill>
        <p:spPr>
          <a:xfrm>
            <a:off x="822960" y="2011680"/>
            <a:ext cx="3382920" cy="241272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29" name="TextBox 6"/>
          <p:cNvSpPr/>
          <p:nvPr/>
        </p:nvSpPr>
        <p:spPr>
          <a:xfrm>
            <a:off x="822960" y="466344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D9488"/>
                </a:solidFill>
                <a:latin typeface="Calibri"/>
              </a:rPr>
              <a:t>Original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Picture 7" descr="segformer_mask.png"/>
          <p:cNvPicPr/>
          <p:nvPr/>
        </p:nvPicPr>
        <p:blipFill>
          <a:blip r:embed="rId4"/>
          <a:stretch/>
        </p:blipFill>
        <p:spPr>
          <a:xfrm>
            <a:off x="4407480" y="2011680"/>
            <a:ext cx="3382920" cy="215820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31" name="TextBox 8"/>
          <p:cNvSpPr/>
          <p:nvPr/>
        </p:nvSpPr>
        <p:spPr>
          <a:xfrm>
            <a:off x="4407480" y="466344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D9488"/>
                </a:solidFill>
                <a:latin typeface="Calibri"/>
              </a:rPr>
              <a:t>Mask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9" descr="segformer_blended.png"/>
          <p:cNvPicPr/>
          <p:nvPr/>
        </p:nvPicPr>
        <p:blipFill>
          <a:blip r:embed="rId5"/>
          <a:stretch/>
        </p:blipFill>
        <p:spPr>
          <a:xfrm>
            <a:off x="7992000" y="2011680"/>
            <a:ext cx="3382920" cy="226296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33" name="TextBox 10"/>
          <p:cNvSpPr/>
          <p:nvPr/>
        </p:nvSpPr>
        <p:spPr>
          <a:xfrm>
            <a:off x="7992000" y="466344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D9488"/>
                </a:solidFill>
                <a:latin typeface="Calibri"/>
              </a:rPr>
              <a:t>Overlay (α=0.5)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822960" y="5989320"/>
            <a:ext cx="105454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Nearest-neighbor upsampling preserves boundaries; 2,516 frames at ~5 it/s (~8 min) — quality demo, not real-time.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822960" y="960120"/>
            <a:ext cx="10545480" cy="31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0" b="1" strike="noStrike" spc="-1">
                <a:solidFill>
                  <a:srgbClr val="1E293B"/>
                </a:solidFill>
                <a:latin typeface="Calibri"/>
              </a:rPr>
              <a:t>02</a:t>
            </a:r>
            <a:endParaRPr lang="en-US" sz="20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822960" y="1783080"/>
            <a:ext cx="1054548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D97706"/>
                </a:solidFill>
                <a:latin typeface="Calibri"/>
              </a:rPr>
              <a:t>SECTION 2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822960" y="2468880"/>
            <a:ext cx="10545480" cy="109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6600" b="1" strike="noStrike" spc="-1">
                <a:solidFill>
                  <a:srgbClr val="FFFFFF"/>
                </a:solidFill>
                <a:latin typeface="Calibri"/>
              </a:rPr>
              <a:t>Enrich</a:t>
            </a:r>
            <a:endParaRPr lang="en-US" sz="6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 5"/>
          <p:cNvSpPr/>
          <p:nvPr/>
        </p:nvSpPr>
        <p:spPr>
          <a:xfrm>
            <a:off x="5459040" y="3931920"/>
            <a:ext cx="127980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822960" y="4160520"/>
            <a:ext cx="1054548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94A3B8"/>
                </a:solidFill>
                <a:latin typeface="Calibri"/>
              </a:rPr>
              <a:t>2 of 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YOLO says 'car.'  We want to say 'Volkswagen.'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3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ounded Rectangle 4"/>
          <p:cNvSpPr/>
          <p:nvPr/>
        </p:nvSpPr>
        <p:spPr>
          <a:xfrm>
            <a:off x="1463040" y="2377440"/>
            <a:ext cx="2194200" cy="164556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9050">
            <a:solidFill>
              <a:srgbClr val="0D948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1463040" y="3033720"/>
            <a:ext cx="21942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YOLO box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ight Arrow 6"/>
          <p:cNvSpPr/>
          <p:nvPr/>
        </p:nvSpPr>
        <p:spPr>
          <a:xfrm>
            <a:off x="3977640" y="2971800"/>
            <a:ext cx="137124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5760720" y="1920240"/>
            <a:ext cx="4023000" cy="255996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9050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5760720" y="3033720"/>
            <a:ext cx="40230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High-res car crop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822960" y="4846320"/>
            <a:ext cx="105454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Use case: fleet analytics, insurance claims, recall targeting, customer trust.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Frozen backbone + a learned linear probe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3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822960" y="141732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OpenCLIP ViT-B-32 (frozen) + nn.Linear(512 → 20) = 20-brand classifier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914400" y="2286000"/>
            <a:ext cx="274284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6"/>
          <p:cNvSpPr/>
          <p:nvPr/>
        </p:nvSpPr>
        <p:spPr>
          <a:xfrm>
            <a:off x="914400" y="2286000"/>
            <a:ext cx="2742840" cy="504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914400" y="2972880"/>
            <a:ext cx="2742840" cy="82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OpenCLIP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ViT-B-32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(frozen)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ight Arrow 8"/>
          <p:cNvSpPr/>
          <p:nvPr/>
        </p:nvSpPr>
        <p:spPr>
          <a:xfrm>
            <a:off x="3886200" y="3200400"/>
            <a:ext cx="12798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Rounded Rectangle 9"/>
          <p:cNvSpPr/>
          <p:nvPr/>
        </p:nvSpPr>
        <p:spPr>
          <a:xfrm>
            <a:off x="5394960" y="2606040"/>
            <a:ext cx="27428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10"/>
          <p:cNvSpPr/>
          <p:nvPr/>
        </p:nvSpPr>
        <p:spPr>
          <a:xfrm>
            <a:off x="5394960" y="2606040"/>
            <a:ext cx="2742840" cy="504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5394960" y="3094560"/>
            <a:ext cx="274284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nn.Linear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(512 → 20)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ight Arrow 12"/>
          <p:cNvSpPr/>
          <p:nvPr/>
        </p:nvSpPr>
        <p:spPr>
          <a:xfrm>
            <a:off x="8366760" y="3200400"/>
            <a:ext cx="100548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9555480" y="2606040"/>
            <a:ext cx="178272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14"/>
          <p:cNvSpPr/>
          <p:nvPr/>
        </p:nvSpPr>
        <p:spPr>
          <a:xfrm>
            <a:off x="9555480" y="2606040"/>
            <a:ext cx="178272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9555480" y="3216600"/>
            <a:ext cx="1782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E293B"/>
                </a:solidFill>
                <a:latin typeface="Calibri"/>
              </a:rPr>
              <a:t>20 brands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822960" y="4937760"/>
            <a:ext cx="105454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Trained on Kaggle car images; 70/15/15 stratified split; early stopping at patience 7.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Brands drawn live on the video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822960" y="141732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Car-only crops · 80×80 min · trucks excluded by design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Picture 5" descr="clip_yolo_result_check.png"/>
          <p:cNvPicPr/>
          <p:nvPr/>
        </p:nvPicPr>
        <p:blipFill>
          <a:blip r:embed="rId3"/>
          <a:stretch/>
        </p:blipFill>
        <p:spPr>
          <a:xfrm>
            <a:off x="822960" y="2011680"/>
            <a:ext cx="4064040" cy="27428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71" name="TextBox 6"/>
          <p:cNvSpPr/>
          <p:nvPr/>
        </p:nvSpPr>
        <p:spPr>
          <a:xfrm>
            <a:off x="822960" y="4892040"/>
            <a:ext cx="4882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D97706"/>
                </a:solidFill>
                <a:latin typeface="Calibri"/>
              </a:rPr>
              <a:t>Single-frame check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Picture 7" descr="clip linear probe video.png"/>
          <p:cNvPicPr/>
          <p:nvPr/>
        </p:nvPicPr>
        <p:blipFill>
          <a:blip r:embed="rId4"/>
          <a:stretch/>
        </p:blipFill>
        <p:spPr>
          <a:xfrm>
            <a:off x="6071760" y="2011680"/>
            <a:ext cx="5302080" cy="27428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73" name="TextBox 8"/>
          <p:cNvSpPr/>
          <p:nvPr/>
        </p:nvSpPr>
        <p:spPr>
          <a:xfrm>
            <a:off x="6071760" y="4892040"/>
            <a:ext cx="52941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D97706"/>
                </a:solidFill>
                <a:latin typeface="Calibri"/>
              </a:rPr>
              <a:t>Video frame output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9"/>
          <p:cNvSpPr/>
          <p:nvPr/>
        </p:nvSpPr>
        <p:spPr>
          <a:xfrm>
            <a:off x="952200" y="5349240"/>
            <a:ext cx="1874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0"/>
          <p:cNvSpPr/>
          <p:nvPr/>
        </p:nvSpPr>
        <p:spPr>
          <a:xfrm>
            <a:off x="952200" y="5485680"/>
            <a:ext cx="187416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D97706"/>
                </a:solidFill>
                <a:latin typeface="Calibri"/>
              </a:rPr>
              <a:t>Frame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11"/>
          <p:cNvSpPr/>
          <p:nvPr/>
        </p:nvSpPr>
        <p:spPr>
          <a:xfrm>
            <a:off x="3055320" y="5349240"/>
            <a:ext cx="1874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3055320" y="5485680"/>
            <a:ext cx="187416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D97706"/>
                </a:solidFill>
                <a:latin typeface="Calibri"/>
              </a:rPr>
              <a:t>YOLO crop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13"/>
          <p:cNvSpPr/>
          <p:nvPr/>
        </p:nvSpPr>
        <p:spPr>
          <a:xfrm>
            <a:off x="5158440" y="5349240"/>
            <a:ext cx="1874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14"/>
          <p:cNvSpPr/>
          <p:nvPr/>
        </p:nvSpPr>
        <p:spPr>
          <a:xfrm>
            <a:off x="5158440" y="5485680"/>
            <a:ext cx="187416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D97706"/>
                </a:solidFill>
                <a:latin typeface="Calibri"/>
              </a:rPr>
              <a:t>CLIP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15"/>
          <p:cNvSpPr/>
          <p:nvPr/>
        </p:nvSpPr>
        <p:spPr>
          <a:xfrm>
            <a:off x="7261560" y="5349240"/>
            <a:ext cx="1874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7261560" y="5485680"/>
            <a:ext cx="187416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D97706"/>
                </a:solidFill>
                <a:latin typeface="Calibri"/>
              </a:rPr>
              <a:t>softmax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17"/>
          <p:cNvSpPr/>
          <p:nvPr/>
        </p:nvSpPr>
        <p:spPr>
          <a:xfrm>
            <a:off x="9364680" y="5349240"/>
            <a:ext cx="1874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9364680" y="5485680"/>
            <a:ext cx="187416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D97706"/>
                </a:solidFill>
                <a:latin typeface="Calibri"/>
              </a:rPr>
              <a:t>label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9"/>
          <p:cNvSpPr/>
          <p:nvPr/>
        </p:nvSpPr>
        <p:spPr>
          <a:xfrm>
            <a:off x="822960" y="5989320"/>
            <a:ext cx="1054548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Real output: YOLO26s boxes + CLIP brand chips (BMW, Peugeot …) on both single-frame checks and running video. Trucks excluded by design — car-only probe.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822960" y="960120"/>
            <a:ext cx="10545480" cy="31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0" b="1" strike="noStrike" spc="-1">
                <a:solidFill>
                  <a:srgbClr val="1E293B"/>
                </a:solidFill>
                <a:latin typeface="Calibri"/>
              </a:rPr>
              <a:t>03</a:t>
            </a:r>
            <a:endParaRPr lang="en-US" sz="20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822960" y="1783080"/>
            <a:ext cx="1054548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6366F1"/>
                </a:solidFill>
                <a:latin typeface="Calibri"/>
              </a:rPr>
              <a:t>SECTION 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822960" y="2468880"/>
            <a:ext cx="10545480" cy="109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6600" b="1" strike="noStrike" spc="-1">
                <a:solidFill>
                  <a:srgbClr val="FFFFFF"/>
                </a:solidFill>
                <a:latin typeface="Calibri"/>
              </a:rPr>
              <a:t>Explain</a:t>
            </a:r>
            <a:endParaRPr lang="en-US" sz="6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5459040" y="3931920"/>
            <a:ext cx="1279800" cy="37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822960" y="4160520"/>
            <a:ext cx="1054548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94A3B8"/>
                </a:solidFill>
                <a:latin typeface="Calibri"/>
              </a:rPr>
              <a:t>3 of 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822960" y="502920"/>
            <a:ext cx="105454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The ultimate interface is plain language — adaptive and audience-ready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3"/>
          <p:cNvSpPr/>
          <p:nvPr/>
        </p:nvSpPr>
        <p:spPr>
          <a:xfrm>
            <a:off x="822960" y="1562400"/>
            <a:ext cx="1279800" cy="37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822960" y="178128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Qwen3-VL:4b via Ollama · adaptive gating · diff ≥ 12 · min interval 5 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5" descr="vlm_caption_red_car_rain.png"/>
          <p:cNvPicPr/>
          <p:nvPr/>
        </p:nvPicPr>
        <p:blipFill>
          <a:blip r:embed="rId3"/>
          <a:stretch/>
        </p:blipFill>
        <p:spPr>
          <a:xfrm>
            <a:off x="822960" y="2743200"/>
            <a:ext cx="5120280" cy="127224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96" name="TextBox 6"/>
          <p:cNvSpPr/>
          <p:nvPr/>
        </p:nvSpPr>
        <p:spPr>
          <a:xfrm>
            <a:off x="822960" y="4389120"/>
            <a:ext cx="5120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366F1"/>
                </a:solidFill>
                <a:latin typeface="Calibri"/>
              </a:rPr>
              <a:t>"A red car is driving down a wet road in the rain, approaching a traffic light."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Picture 7" descr="vlm_caption_truck_pedestrian.png"/>
          <p:cNvPicPr/>
          <p:nvPr/>
        </p:nvPicPr>
        <p:blipFill>
          <a:blip r:embed="rId4"/>
          <a:stretch/>
        </p:blipFill>
        <p:spPr>
          <a:xfrm>
            <a:off x="6245280" y="2743200"/>
            <a:ext cx="5120280" cy="138132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198" name="TextBox 8"/>
          <p:cNvSpPr/>
          <p:nvPr/>
        </p:nvSpPr>
        <p:spPr>
          <a:xfrm>
            <a:off x="6245280" y="4389120"/>
            <a:ext cx="5120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366F1"/>
                </a:solidFill>
                <a:latin typeface="Calibri"/>
              </a:rPr>
              <a:t>"A white truck and a pedestrian are crossing the road at a pedestrian crossing..."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822960" y="5989320"/>
            <a:ext cx="105454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Captions fire only when the scene actually changes — no redundant narration. Any viewer can follow what the car sees.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Frame-based Q&amp;A — ask what you see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3" name="Picture 4" descr="vlm_qna_interface.png"/>
          <p:cNvPicPr/>
          <p:nvPr/>
        </p:nvPicPr>
        <p:blipFill>
          <a:blip r:embed="rId3"/>
          <a:stretch/>
        </p:blipFill>
        <p:spPr>
          <a:xfrm>
            <a:off x="2743200" y="1737360"/>
            <a:ext cx="6768720" cy="4023000"/>
          </a:xfrm>
          <a:prstGeom prst="rect">
            <a:avLst/>
          </a:prstGeom>
          <a:ln w="12700">
            <a:solidFill>
              <a:srgbClr val="E2E8F0"/>
            </a:solidFill>
            <a:round/>
          </a:ln>
        </p:spPr>
      </p:pic>
      <p:sp>
        <p:nvSpPr>
          <p:cNvPr id="204" name="TextBox 5"/>
          <p:cNvSpPr/>
          <p:nvPr/>
        </p:nvSpPr>
        <p:spPr>
          <a:xfrm>
            <a:off x="822960" y="5989320"/>
            <a:ext cx="1054548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Pause any frame, type a question, and the VLM answers with evidence — turning a black-box detector into an explainable system.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Four stages · one coherent story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822960" y="1417320"/>
            <a:ext cx="10545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475569"/>
                </a:solidFill>
                <a:latin typeface="Calibri"/>
              </a:rPr>
              <a:t>The main pipeline runs end-to-end; SegFormer runs alongside, independently.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4"/>
          <p:cNvSpPr/>
          <p:nvPr/>
        </p:nvSpPr>
        <p:spPr>
          <a:xfrm>
            <a:off x="641520" y="224028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Rectangle 5"/>
          <p:cNvSpPr/>
          <p:nvPr/>
        </p:nvSpPr>
        <p:spPr>
          <a:xfrm>
            <a:off x="641520" y="2240280"/>
            <a:ext cx="1874160" cy="50400"/>
          </a:xfrm>
          <a:prstGeom prst="rect">
            <a:avLst/>
          </a:prstGeom>
          <a:solidFill>
            <a:srgbClr val="94A3B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641520" y="272844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Raw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Video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ight Arrow 7"/>
          <p:cNvSpPr/>
          <p:nvPr/>
        </p:nvSpPr>
        <p:spPr>
          <a:xfrm>
            <a:off x="2570760" y="2807280"/>
            <a:ext cx="27396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ounded Rectangle 8"/>
          <p:cNvSpPr/>
          <p:nvPr/>
        </p:nvSpPr>
        <p:spPr>
          <a:xfrm>
            <a:off x="2900160" y="224028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ectangle 9"/>
          <p:cNvSpPr/>
          <p:nvPr/>
        </p:nvSpPr>
        <p:spPr>
          <a:xfrm>
            <a:off x="2900160" y="2240280"/>
            <a:ext cx="187416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2900160" y="272844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YOLO26s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Detection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ight Arrow 11"/>
          <p:cNvSpPr/>
          <p:nvPr/>
        </p:nvSpPr>
        <p:spPr>
          <a:xfrm>
            <a:off x="4829400" y="2807280"/>
            <a:ext cx="27396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Rounded Rectangle 12"/>
          <p:cNvSpPr/>
          <p:nvPr/>
        </p:nvSpPr>
        <p:spPr>
          <a:xfrm>
            <a:off x="5158440" y="224028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ectangle 13"/>
          <p:cNvSpPr/>
          <p:nvPr/>
        </p:nvSpPr>
        <p:spPr>
          <a:xfrm>
            <a:off x="5158440" y="2240280"/>
            <a:ext cx="1874160" cy="504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5158440" y="272844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CLIP Brand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Probe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ight Arrow 15"/>
          <p:cNvSpPr/>
          <p:nvPr/>
        </p:nvSpPr>
        <p:spPr>
          <a:xfrm>
            <a:off x="7088040" y="2807280"/>
            <a:ext cx="27396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Rounded Rectangle 16"/>
          <p:cNvSpPr/>
          <p:nvPr/>
        </p:nvSpPr>
        <p:spPr>
          <a:xfrm>
            <a:off x="7417080" y="224028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ectangle 17"/>
          <p:cNvSpPr/>
          <p:nvPr/>
        </p:nvSpPr>
        <p:spPr>
          <a:xfrm>
            <a:off x="7417080" y="2240280"/>
            <a:ext cx="1874160" cy="504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7417080" y="272844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VLM Caption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&amp; Q&amp;A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ight Arrow 19"/>
          <p:cNvSpPr/>
          <p:nvPr/>
        </p:nvSpPr>
        <p:spPr>
          <a:xfrm>
            <a:off x="9346680" y="2807280"/>
            <a:ext cx="27396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ounded Rectangle 20"/>
          <p:cNvSpPr/>
          <p:nvPr/>
        </p:nvSpPr>
        <p:spPr>
          <a:xfrm>
            <a:off x="9675720" y="224028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21"/>
          <p:cNvSpPr/>
          <p:nvPr/>
        </p:nvSpPr>
        <p:spPr>
          <a:xfrm>
            <a:off x="9675720" y="2240280"/>
            <a:ext cx="1874160" cy="5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9675720" y="272844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Structured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Understanding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23"/>
          <p:cNvSpPr/>
          <p:nvPr/>
        </p:nvSpPr>
        <p:spPr>
          <a:xfrm>
            <a:off x="641520" y="4343400"/>
            <a:ext cx="18741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ectangle 24"/>
          <p:cNvSpPr/>
          <p:nvPr/>
        </p:nvSpPr>
        <p:spPr>
          <a:xfrm>
            <a:off x="641520" y="4343400"/>
            <a:ext cx="1874160" cy="5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25"/>
          <p:cNvSpPr/>
          <p:nvPr/>
        </p:nvSpPr>
        <p:spPr>
          <a:xfrm>
            <a:off x="641520" y="4831560"/>
            <a:ext cx="187416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SegFormer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</a:rPr>
              <a:t>Segmentation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ectangle 26"/>
          <p:cNvSpPr/>
          <p:nvPr/>
        </p:nvSpPr>
        <p:spPr>
          <a:xfrm>
            <a:off x="1569600" y="3611880"/>
            <a:ext cx="22680" cy="73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27"/>
          <p:cNvSpPr/>
          <p:nvPr/>
        </p:nvSpPr>
        <p:spPr>
          <a:xfrm>
            <a:off x="2881800" y="4740480"/>
            <a:ext cx="594324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Standalone quality demo — shares the input video,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but feeds no downstream stage.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28"/>
          <p:cNvSpPr/>
          <p:nvPr/>
        </p:nvSpPr>
        <p:spPr>
          <a:xfrm>
            <a:off x="822960" y="6080760"/>
            <a:ext cx="105454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Speed: YOLO is fast · CLIP is moderate (one crop at a time) · SegFormer &amp; VLM are slow, selective, or offline-only.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822960" y="502920"/>
            <a:ext cx="105454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Results &amp; Key Metrics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2"/>
          <p:cNvSpPr/>
          <p:nvPr/>
        </p:nvSpPr>
        <p:spPr>
          <a:xfrm>
            <a:off x="822960" y="123444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ounded Rectangle 3"/>
          <p:cNvSpPr/>
          <p:nvPr/>
        </p:nvSpPr>
        <p:spPr>
          <a:xfrm>
            <a:off x="719280" y="201168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ectangle 4"/>
          <p:cNvSpPr/>
          <p:nvPr/>
        </p:nvSpPr>
        <p:spPr>
          <a:xfrm>
            <a:off x="719280" y="2011680"/>
            <a:ext cx="2468520" cy="630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719280" y="2240280"/>
            <a:ext cx="2468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0D9488"/>
                </a:solidFill>
                <a:latin typeface="Calibri"/>
              </a:rPr>
              <a:t>Detection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856440" y="2788920"/>
            <a:ext cx="219420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P = 0.874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R = 0.754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mAP@0.5 = 0.842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mAP@0.5:0.95 = 0.515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7"/>
          <p:cNvSpPr/>
          <p:nvPr/>
        </p:nvSpPr>
        <p:spPr>
          <a:xfrm>
            <a:off x="3480840" y="201168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8"/>
          <p:cNvSpPr/>
          <p:nvPr/>
        </p:nvSpPr>
        <p:spPr>
          <a:xfrm>
            <a:off x="3480840" y="2011680"/>
            <a:ext cx="2468520" cy="63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3480840" y="2240280"/>
            <a:ext cx="2468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D97706"/>
                </a:solidFill>
                <a:latin typeface="Calibri"/>
              </a:rPr>
              <a:t>Enrichment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3618000" y="2788920"/>
            <a:ext cx="219420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Probe accuracy ≈ 80 %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20 brands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(79.8 % on test split)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1"/>
          <p:cNvSpPr/>
          <p:nvPr/>
        </p:nvSpPr>
        <p:spPr>
          <a:xfrm>
            <a:off x="6242040" y="201168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12"/>
          <p:cNvSpPr/>
          <p:nvPr/>
        </p:nvSpPr>
        <p:spPr>
          <a:xfrm>
            <a:off x="6242040" y="2011680"/>
            <a:ext cx="2468520" cy="630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6242040" y="2240280"/>
            <a:ext cx="2468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0D9488"/>
                </a:solidFill>
                <a:latin typeface="Calibri"/>
              </a:rPr>
              <a:t>Segmentation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6379200" y="2788920"/>
            <a:ext cx="219420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19 Cityscapes classes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84 % mIoU (pretrained)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15"/>
          <p:cNvSpPr/>
          <p:nvPr/>
        </p:nvSpPr>
        <p:spPr>
          <a:xfrm>
            <a:off x="9003600" y="2011680"/>
            <a:ext cx="24685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ectangle 16"/>
          <p:cNvSpPr/>
          <p:nvPr/>
        </p:nvSpPr>
        <p:spPr>
          <a:xfrm>
            <a:off x="9003600" y="2011680"/>
            <a:ext cx="2468520" cy="630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17"/>
          <p:cNvSpPr/>
          <p:nvPr/>
        </p:nvSpPr>
        <p:spPr>
          <a:xfrm>
            <a:off x="9003600" y="2240280"/>
            <a:ext cx="2468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6366F1"/>
                </a:solidFill>
                <a:latin typeface="Calibri"/>
              </a:rPr>
              <a:t>Narration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8"/>
          <p:cNvSpPr/>
          <p:nvPr/>
        </p:nvSpPr>
        <p:spPr>
          <a:xfrm>
            <a:off x="9140760" y="2788920"/>
            <a:ext cx="219420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Adaptive captioning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75569"/>
                </a:solidFill>
                <a:latin typeface="Calibri"/>
              </a:rPr>
              <a:t>local inference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9"/>
          <p:cNvSpPr/>
          <p:nvPr/>
        </p:nvSpPr>
        <p:spPr>
          <a:xfrm>
            <a:off x="822960" y="5029200"/>
            <a:ext cx="1054548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94A3B8"/>
                </a:solidFill>
                <a:latin typeface="Calibri"/>
              </a:rPr>
              <a:t>All four capabilities run on a single local GPU — no cloud dependency.  YOLOv10n → YOLO26s:  +24.7% mAP@0.5,  +32.7% strict mAP,  +26.1% recall.  Hardest class: pedestrian (mAP 0.692).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1"/>
          <p:cNvSpPr/>
          <p:nvPr/>
        </p:nvSpPr>
        <p:spPr>
          <a:xfrm>
            <a:off x="822960" y="1554480"/>
            <a:ext cx="105454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From pixels to plain language —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1E293B"/>
                </a:solidFill>
                <a:latin typeface="Calibri"/>
              </a:rPr>
              <a:t>and next, to real-time edge deployment.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2"/>
          <p:cNvSpPr/>
          <p:nvPr/>
        </p:nvSpPr>
        <p:spPr>
          <a:xfrm>
            <a:off x="5459040" y="2743200"/>
            <a:ext cx="12798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3200400" y="310896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·   Multi-camera fusion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3200400" y="367596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·   On-device quantization for edge speed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3200400" y="424296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75569"/>
                </a:solidFill>
                <a:latin typeface="Calibri"/>
              </a:rPr>
              <a:t>·   Temporal tracking to reduce flicker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1812</Words>
  <Application>Microsoft Macintosh PowerPoint</Application>
  <PresentationFormat>Widescreen</PresentationFormat>
  <Paragraphs>179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Dongyuan Gao</cp:lastModifiedBy>
  <cp:revision>3</cp:revision>
  <dcterms:created xsi:type="dcterms:W3CDTF">2013-01-27T09:14:16Z</dcterms:created>
  <dcterms:modified xsi:type="dcterms:W3CDTF">2026-06-07T20:26:31Z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